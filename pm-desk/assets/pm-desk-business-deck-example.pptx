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M Desk Content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ster-title-band"/>
          <p:cNvSpPr/>
          <p:nvPr userDrawn="1"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F5AA6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master-title-underline"/>
          <p:cNvSpPr/>
          <p:nvPr userDrawn="1"/>
        </p:nvSpPr>
        <p:spPr>
          <a:xfrm>
            <a:off x="0" y="923925"/>
            <a:ext cx="2438400" cy="28575"/>
          </a:xfrm>
          <a:prstGeom prst="rect">
            <a:avLst/>
          </a:prstGeom>
          <a:solidFill>
            <a:srgbClr val="0F8B7C"/>
          </a:solidFill>
          <a:ln w="19050">
            <a:noFill/>
            <a:prstDash val="solid"/>
          </a:ln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lumMod val="7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hesis-strip"/>
          <p:cNvSpPr>
            <a:spLocks noGrp="1"/>
          </p:cNvSpPr>
          <p:nvPr/>
        </p:nvSpPr>
        <p:spPr>
          <a:xfrm>
            <a:off x="685800" y="120015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EEF4FA"/>
          </a:solidFill>
          <a:ln w="9525">
            <a:solidFill>
              <a:srgbClr val="D7E1ED"/>
            </a:solidFill>
            <a:prstDash val="solid"/>
          </a:ln>
        </p:spPr>
      </p:sp>
      <p:sp>
        <p:nvSpPr>
          <p:cNvPr id="5" name="thesis"/>
          <p:cNvSpPr>
            <a:spLocks noGrp="1"/>
          </p:cNvSpPr>
          <p:nvPr/>
        </p:nvSpPr>
        <p:spPr>
          <a:xfrm>
            <a:off x="990600" y="12954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687B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687B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目标不是堆功能，而是让每条需求都进入流程、产生状态并能够被验收。</a:t>
            </a:r>
            <a:endParaRPr sz="1425" b="1">
              <a:solidFill>
                <a:srgbClr val="687B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roblem-surface"/>
          <p:cNvSpPr>
            <a:spLocks noGrp="1"/>
          </p:cNvSpPr>
          <p:nvPr/>
        </p:nvSpPr>
        <p:spPr>
          <a:xfrm>
            <a:off x="685800" y="2038350"/>
            <a:ext cx="333375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7E1ED"/>
            </a:solidFill>
            <a:prstDash val="solid"/>
          </a:ln>
        </p:spPr>
      </p:sp>
      <p:sp>
        <p:nvSpPr>
          <p:cNvPr id="7" name="problem-accent"/>
          <p:cNvSpPr>
            <a:spLocks noGrp="1"/>
          </p:cNvSpPr>
          <p:nvPr/>
        </p:nvSpPr>
        <p:spPr>
          <a:xfrm>
            <a:off x="1200150" y="2038350"/>
            <a:ext cx="2305050" cy="38100"/>
          </a:xfrm>
          <a:prstGeom prst="rect">
            <a:avLst/>
          </a:prstGeom>
          <a:solidFill>
            <a:srgbClr val="1F5AA6"/>
          </a:solidFill>
          <a:ln w="0">
            <a:noFill/>
            <a:prstDash val="solid"/>
          </a:ln>
        </p:spPr>
      </p:sp>
      <p:sp>
        <p:nvSpPr>
          <p:cNvPr id="8" name="problem-number-circle"/>
          <p:cNvSpPr>
            <a:spLocks noGrp="1"/>
          </p:cNvSpPr>
          <p:nvPr/>
        </p:nvSpPr>
        <p:spPr>
          <a:xfrm>
            <a:off x="914400" y="2343150"/>
            <a:ext cx="400050" cy="400050"/>
          </a:xfrm>
          <a:prstGeom prst="ellipse">
            <a:avLst/>
          </a:prstGeom>
          <a:solidFill>
            <a:srgbClr val="1F5AA6"/>
          </a:solidFill>
          <a:ln w="0">
            <a:noFill/>
            <a:prstDash val="solid"/>
          </a:ln>
        </p:spPr>
      </p:sp>
      <p:sp>
        <p:nvSpPr>
          <p:cNvPr id="9" name="problem-number"/>
          <p:cNvSpPr>
            <a:spLocks noGrp="1"/>
          </p:cNvSpPr>
          <p:nvPr/>
        </p:nvSpPr>
        <p:spPr>
          <a:xfrm>
            <a:off x="91440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roblem-title"/>
          <p:cNvSpPr>
            <a:spLocks noGrp="1"/>
          </p:cNvSpPr>
          <p:nvPr/>
        </p:nvSpPr>
        <p:spPr>
          <a:xfrm>
            <a:off x="1447800" y="232410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F5A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5A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问题成立</a:t>
            </a:r>
            <a:endParaRPr sz="1650" b="1">
              <a:solidFill>
                <a:srgbClr val="1F5A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roblem-bullet-1"/>
          <p:cNvSpPr>
            <a:spLocks noGrp="1"/>
          </p:cNvSpPr>
          <p:nvPr/>
        </p:nvSpPr>
        <p:spPr>
          <a:xfrm>
            <a:off x="971550" y="3105150"/>
            <a:ext cx="85725" cy="85725"/>
          </a:xfrm>
          <a:prstGeom prst="ellipse">
            <a:avLst/>
          </a:prstGeom>
          <a:solidFill>
            <a:srgbClr val="1F5AA6"/>
          </a:solidFill>
          <a:ln w="0">
            <a:noFill/>
            <a:prstDash val="solid"/>
          </a:ln>
        </p:spPr>
      </p:sp>
      <p:sp>
        <p:nvSpPr>
          <p:cNvPr id="12" name="problem-point-1"/>
          <p:cNvSpPr>
            <a:spLocks noGrp="1"/>
          </p:cNvSpPr>
          <p:nvPr/>
        </p:nvSpPr>
        <p:spPr>
          <a:xfrm>
            <a:off x="1200150" y="2914650"/>
            <a:ext cx="2495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用户、场景与目标明确</a:t>
            </a:r>
            <a:endParaRPr sz="135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roblem-bullet-2"/>
          <p:cNvSpPr>
            <a:spLocks noGrp="1"/>
          </p:cNvSpPr>
          <p:nvPr/>
        </p:nvSpPr>
        <p:spPr>
          <a:xfrm>
            <a:off x="971550" y="3886200"/>
            <a:ext cx="85725" cy="85725"/>
          </a:xfrm>
          <a:prstGeom prst="ellipse">
            <a:avLst/>
          </a:prstGeom>
          <a:solidFill>
            <a:srgbClr val="1F5AA6"/>
          </a:solidFill>
          <a:ln w="0">
            <a:noFill/>
            <a:prstDash val="solid"/>
          </a:ln>
        </p:spPr>
      </p:sp>
      <p:sp>
        <p:nvSpPr>
          <p:cNvPr id="14" name="problem-point-2"/>
          <p:cNvSpPr>
            <a:spLocks noGrp="1"/>
          </p:cNvSpPr>
          <p:nvPr/>
        </p:nvSpPr>
        <p:spPr>
          <a:xfrm>
            <a:off x="1200150" y="3695700"/>
            <a:ext cx="2495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证据能够说明频率或损失</a:t>
            </a:r>
            <a:endParaRPr sz="135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ule-surface"/>
          <p:cNvSpPr>
            <a:spLocks noGrp="1"/>
          </p:cNvSpPr>
          <p:nvPr/>
        </p:nvSpPr>
        <p:spPr>
          <a:xfrm>
            <a:off x="4429125" y="2038350"/>
            <a:ext cx="333375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7E1ED"/>
            </a:solidFill>
            <a:prstDash val="solid"/>
          </a:ln>
        </p:spPr>
      </p:sp>
      <p:sp>
        <p:nvSpPr>
          <p:cNvPr id="16" name="rule-accent"/>
          <p:cNvSpPr>
            <a:spLocks noGrp="1"/>
          </p:cNvSpPr>
          <p:nvPr/>
        </p:nvSpPr>
        <p:spPr>
          <a:xfrm>
            <a:off x="4943475" y="2038350"/>
            <a:ext cx="2305050" cy="38100"/>
          </a:xfrm>
          <a:prstGeom prst="rect">
            <a:avLst/>
          </a:prstGeom>
          <a:solidFill>
            <a:srgbClr val="0F8B7C"/>
          </a:solidFill>
          <a:ln w="0">
            <a:noFill/>
            <a:prstDash val="solid"/>
          </a:ln>
        </p:spPr>
      </p:sp>
      <p:sp>
        <p:nvSpPr>
          <p:cNvPr id="17" name="rule-number-circle"/>
          <p:cNvSpPr>
            <a:spLocks noGrp="1"/>
          </p:cNvSpPr>
          <p:nvPr/>
        </p:nvSpPr>
        <p:spPr>
          <a:xfrm>
            <a:off x="4657725" y="2343150"/>
            <a:ext cx="400050" cy="400050"/>
          </a:xfrm>
          <a:prstGeom prst="ellipse">
            <a:avLst/>
          </a:prstGeom>
          <a:solidFill>
            <a:srgbClr val="0F8B7C"/>
          </a:solidFill>
          <a:ln w="0">
            <a:noFill/>
            <a:prstDash val="solid"/>
          </a:ln>
        </p:spPr>
      </p:sp>
      <p:sp>
        <p:nvSpPr>
          <p:cNvPr id="18" name="rule-number"/>
          <p:cNvSpPr>
            <a:spLocks noGrp="1"/>
          </p:cNvSpPr>
          <p:nvPr/>
        </p:nvSpPr>
        <p:spPr>
          <a:xfrm>
            <a:off x="4657725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ule-title"/>
          <p:cNvSpPr>
            <a:spLocks noGrp="1"/>
          </p:cNvSpPr>
          <p:nvPr/>
        </p:nvSpPr>
        <p:spPr>
          <a:xfrm>
            <a:off x="5191125" y="232410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F5A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5A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规则可执行</a:t>
            </a:r>
            <a:endParaRPr sz="1650" b="1">
              <a:solidFill>
                <a:srgbClr val="1F5A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ule-bullet-1"/>
          <p:cNvSpPr>
            <a:spLocks noGrp="1"/>
          </p:cNvSpPr>
          <p:nvPr/>
        </p:nvSpPr>
        <p:spPr>
          <a:xfrm>
            <a:off x="4714875" y="3105150"/>
            <a:ext cx="85725" cy="85725"/>
          </a:xfrm>
          <a:prstGeom prst="ellipse">
            <a:avLst/>
          </a:prstGeom>
          <a:solidFill>
            <a:srgbClr val="0F8B7C"/>
          </a:solidFill>
          <a:ln w="0">
            <a:noFill/>
            <a:prstDash val="solid"/>
          </a:ln>
        </p:spPr>
      </p:sp>
      <p:sp>
        <p:nvSpPr>
          <p:cNvPr id="21" name="rule-point-1"/>
          <p:cNvSpPr>
            <a:spLocks noGrp="1"/>
          </p:cNvSpPr>
          <p:nvPr/>
        </p:nvSpPr>
        <p:spPr>
          <a:xfrm>
            <a:off x="4943475" y="2914650"/>
            <a:ext cx="2495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主流程、状态与权限一致</a:t>
            </a:r>
            <a:endParaRPr sz="135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ule-bullet-2"/>
          <p:cNvSpPr>
            <a:spLocks noGrp="1"/>
          </p:cNvSpPr>
          <p:nvPr/>
        </p:nvSpPr>
        <p:spPr>
          <a:xfrm>
            <a:off x="4714875" y="3886200"/>
            <a:ext cx="85725" cy="85725"/>
          </a:xfrm>
          <a:prstGeom prst="ellipse">
            <a:avLst/>
          </a:prstGeom>
          <a:solidFill>
            <a:srgbClr val="0F8B7C"/>
          </a:solidFill>
          <a:ln w="0">
            <a:noFill/>
            <a:prstDash val="solid"/>
          </a:ln>
        </p:spPr>
      </p:sp>
      <p:sp>
        <p:nvSpPr>
          <p:cNvPr id="23" name="rule-point-2"/>
          <p:cNvSpPr>
            <a:spLocks noGrp="1"/>
          </p:cNvSpPr>
          <p:nvPr/>
        </p:nvSpPr>
        <p:spPr>
          <a:xfrm>
            <a:off x="4943475" y="3695700"/>
            <a:ext cx="2495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异常路径与人工兜底明确</a:t>
            </a:r>
            <a:endParaRPr sz="135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acceptance-surface"/>
          <p:cNvSpPr>
            <a:spLocks noGrp="1"/>
          </p:cNvSpPr>
          <p:nvPr/>
        </p:nvSpPr>
        <p:spPr>
          <a:xfrm>
            <a:off x="8172450" y="2038350"/>
            <a:ext cx="333375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9525">
            <a:solidFill>
              <a:srgbClr val="D7E1ED"/>
            </a:solidFill>
            <a:prstDash val="solid"/>
          </a:ln>
        </p:spPr>
      </p:sp>
      <p:sp>
        <p:nvSpPr>
          <p:cNvPr id="25" name="acceptance-accent"/>
          <p:cNvSpPr>
            <a:spLocks noGrp="1"/>
          </p:cNvSpPr>
          <p:nvPr/>
        </p:nvSpPr>
        <p:spPr>
          <a:xfrm>
            <a:off x="8686800" y="2038350"/>
            <a:ext cx="2305050" cy="38100"/>
          </a:xfrm>
          <a:prstGeom prst="rect">
            <a:avLst/>
          </a:prstGeom>
          <a:solidFill>
            <a:srgbClr val="E98A15"/>
          </a:solidFill>
          <a:ln w="0">
            <a:noFill/>
            <a:prstDash val="solid"/>
          </a:ln>
        </p:spPr>
      </p:sp>
      <p:sp>
        <p:nvSpPr>
          <p:cNvPr id="26" name="acceptance-number-circle"/>
          <p:cNvSpPr>
            <a:spLocks noGrp="1"/>
          </p:cNvSpPr>
          <p:nvPr/>
        </p:nvSpPr>
        <p:spPr>
          <a:xfrm>
            <a:off x="8401050" y="2343150"/>
            <a:ext cx="400050" cy="400050"/>
          </a:xfrm>
          <a:prstGeom prst="ellipse">
            <a:avLst/>
          </a:prstGeom>
          <a:solidFill>
            <a:srgbClr val="E98A15"/>
          </a:solidFill>
          <a:ln w="0">
            <a:noFill/>
            <a:prstDash val="solid"/>
          </a:ln>
        </p:spPr>
      </p:sp>
      <p:sp>
        <p:nvSpPr>
          <p:cNvPr id="27" name="acceptance-number"/>
          <p:cNvSpPr>
            <a:spLocks noGrp="1"/>
          </p:cNvSpPr>
          <p:nvPr/>
        </p:nvSpPr>
        <p:spPr>
          <a:xfrm>
            <a:off x="8401050" y="2343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cceptance-title"/>
          <p:cNvSpPr>
            <a:spLocks noGrp="1"/>
          </p:cNvSpPr>
          <p:nvPr/>
        </p:nvSpPr>
        <p:spPr>
          <a:xfrm>
            <a:off x="8934450" y="2324100"/>
            <a:ext cx="2266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F5A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5A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结果可验收</a:t>
            </a:r>
            <a:endParaRPr sz="1650" b="1">
              <a:solidFill>
                <a:srgbClr val="1F5A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acceptance-bullet-1"/>
          <p:cNvSpPr>
            <a:spLocks noGrp="1"/>
          </p:cNvSpPr>
          <p:nvPr/>
        </p:nvSpPr>
        <p:spPr>
          <a:xfrm>
            <a:off x="8458200" y="3105150"/>
            <a:ext cx="85725" cy="85725"/>
          </a:xfrm>
          <a:prstGeom prst="ellipse">
            <a:avLst/>
          </a:prstGeom>
          <a:solidFill>
            <a:srgbClr val="E98A15"/>
          </a:solidFill>
          <a:ln w="0">
            <a:noFill/>
            <a:prstDash val="solid"/>
          </a:ln>
        </p:spPr>
      </p:sp>
      <p:sp>
        <p:nvSpPr>
          <p:cNvPr id="30" name="acceptance-point-1"/>
          <p:cNvSpPr>
            <a:spLocks noGrp="1"/>
          </p:cNvSpPr>
          <p:nvPr/>
        </p:nvSpPr>
        <p:spPr>
          <a:xfrm>
            <a:off x="8686800" y="2914650"/>
            <a:ext cx="2495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关键行为和结果可以观察</a:t>
            </a:r>
            <a:endParaRPr sz="135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acceptance-bullet-2"/>
          <p:cNvSpPr>
            <a:spLocks noGrp="1"/>
          </p:cNvSpPr>
          <p:nvPr/>
        </p:nvSpPr>
        <p:spPr>
          <a:xfrm>
            <a:off x="8458200" y="3886200"/>
            <a:ext cx="85725" cy="85725"/>
          </a:xfrm>
          <a:prstGeom prst="ellipse">
            <a:avLst/>
          </a:prstGeom>
          <a:solidFill>
            <a:srgbClr val="E98A15"/>
          </a:solidFill>
          <a:ln w="0">
            <a:noFill/>
            <a:prstDash val="solid"/>
          </a:ln>
        </p:spPr>
      </p:sp>
      <p:sp>
        <p:nvSpPr>
          <p:cNvPr id="32" name="acceptance-point-2"/>
          <p:cNvSpPr>
            <a:spLocks noGrp="1"/>
          </p:cNvSpPr>
          <p:nvPr/>
        </p:nvSpPr>
        <p:spPr>
          <a:xfrm>
            <a:off x="8686800" y="3695700"/>
            <a:ext cx="2495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成功、失败与边界可以测试</a:t>
            </a:r>
            <a:endParaRPr sz="135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conclusion-strip"/>
          <p:cNvSpPr>
            <a:spLocks noGrp="1"/>
          </p:cNvSpPr>
          <p:nvPr/>
        </p:nvSpPr>
        <p:spPr>
          <a:xfrm>
            <a:off x="685800" y="54864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EF4FA"/>
          </a:solidFill>
          <a:ln w="9525">
            <a:solidFill>
              <a:srgbClr val="D7E1ED"/>
            </a:solidFill>
            <a:prstDash val="solid"/>
          </a:ln>
        </p:spPr>
      </p:sp>
      <p:sp>
        <p:nvSpPr>
          <p:cNvPr id="34" name="conclusion-label-bg"/>
          <p:cNvSpPr>
            <a:spLocks noGrp="1"/>
          </p:cNvSpPr>
          <p:nvPr/>
        </p:nvSpPr>
        <p:spPr>
          <a:xfrm>
            <a:off x="895350" y="5676900"/>
            <a:ext cx="1504950" cy="400050"/>
          </a:xfrm>
          <a:prstGeom prst="roundRect">
            <a:avLst>
              <a:gd name="adj" fmla="val 19048"/>
            </a:avLst>
          </a:prstGeom>
          <a:solidFill>
            <a:srgbClr val="1F5AA6"/>
          </a:solidFill>
          <a:ln w="0">
            <a:noFill/>
            <a:prstDash val="solid"/>
          </a:ln>
        </p:spPr>
      </p:sp>
      <p:sp>
        <p:nvSpPr>
          <p:cNvPr id="35" name="conclusion-label"/>
          <p:cNvSpPr>
            <a:spLocks noGrp="1"/>
          </p:cNvSpPr>
          <p:nvPr/>
        </p:nvSpPr>
        <p:spPr>
          <a:xfrm>
            <a:off x="895350" y="5676900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交付标准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conclusion-formula"/>
          <p:cNvSpPr>
            <a:spLocks noGrp="1"/>
          </p:cNvSpPr>
          <p:nvPr/>
        </p:nvSpPr>
        <p:spPr>
          <a:xfrm>
            <a:off x="2724150" y="5657850"/>
            <a:ext cx="819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D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D27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生产可用 = 事实已确认 AND 规则可执行 AND 结果可验收</a:t>
            </a:r>
            <a:endParaRPr sz="1650" b="1">
              <a:solidFill>
                <a:srgbClr val="0D27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lide-context"/>
          <p:cNvSpPr txBox="1"/>
          <p:nvPr/>
        </p:nvSpPr>
        <p:spPr>
          <a:xfrm>
            <a:off x="685800" y="146685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产品方案</a:t>
            </a:r>
            <a:r>
              <a:rPr lang="en-US" alt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需求决策</a:t>
            </a:r>
            <a:endParaRPr lang="zh-CN" alt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slide-title"/>
          <p:cNvSpPr txBox="1"/>
          <p:nvPr/>
        </p:nvSpPr>
        <p:spPr>
          <a:xfrm>
            <a:off x="685800" y="271463"/>
            <a:ext cx="9448800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把需求收敛为可验证的业务闭环</a:t>
            </a:r>
            <a:endParaRPr lang="zh-CN" altLang="en-US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slide-page-number"/>
          <p:cNvSpPr txBox="1"/>
          <p:nvPr/>
        </p:nvSpPr>
        <p:spPr>
          <a:xfrm>
            <a:off x="11049000" y="291148"/>
            <a:ext cx="609600" cy="25336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r"/>
            <a:r>
              <a:rPr lang="en-US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 Desk Business Master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WPS 演示</Application>
  <PresentationFormat>Converted Presentation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PM Desk Business Master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肖金鹏</cp:lastModifiedBy>
  <cp:revision>2</cp:revision>
  <dcterms:created xsi:type="dcterms:W3CDTF">2026-07-31T11:38:00Z</dcterms:created>
  <dcterms:modified xsi:type="dcterms:W3CDTF">2026-07-31T14:32:43Z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8A9602EA7B894022BFC6E43CAF22671D_12</vt:lpwstr>
  </property>
  <property fmtid="{D5CDD505-2E9C-101B-9397-08002B2CF9AE}" pid="3" name="KSOProductBuildVer">
    <vt:lpwstr>2052-12.1.0.28022</vt:lpwstr>
  </property>
</Properties>
</file>