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59" r:id="rId8"/>
    <p:sldId id="261" r:id="rId9"/>
    <p:sldId id="262" r:id="rId10"/>
    <p:sldId id="265" r:id="rId11"/>
    <p:sldId id="263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 userDrawn="1"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 userDrawn="1"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项目名称</a:t>
            </a: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en-US"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</a:t>
            </a: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00" b="0">
                <a:solidFill>
                  <a:srgbClr val="5A6B74"/>
                </a:solidFill>
                <a:cs typeface="微软雅黑" panose="020B0503020204020204" charset="-122"/>
              </a:rPr>
              <a:t>01</a:t>
            </a:r>
            <a:endParaRPr lang="en-US" sz="1000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609600"/>
            <a:ext cx="6858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名称</a:t>
            </a:r>
            <a:endParaRPr sz="16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238250"/>
            <a:ext cx="75247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6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【业务线名称】业务方案</a:t>
            </a:r>
            <a:endParaRPr sz="36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400300"/>
            <a:ext cx="590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用一句话说明本业务线的服务对象、业务范围和交付目标</a:t>
            </a:r>
            <a:endParaRPr sz="14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3238500"/>
            <a:ext cx="106680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28612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方案说明</a:t>
            </a:r>
            <a:endParaRPr sz="8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3238500"/>
            <a:ext cx="129540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962150" y="3286125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r>
              <a:rPr sz="8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</a:t>
            </a:r>
            <a:endParaRPr sz="8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76600" y="3238500"/>
            <a:ext cx="1200150" cy="228600"/>
          </a:xfrm>
          <a:prstGeom prst="rect">
            <a:avLst/>
          </a:prstGeom>
          <a:solidFill>
            <a:srgbClr val="FFF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371850" y="32861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YYYY-MM-DD</a:t>
            </a:r>
            <a:endParaRPr sz="8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29500" y="876300"/>
            <a:ext cx="3619500" cy="4191000"/>
          </a:xfrm>
          <a:prstGeom prst="rect">
            <a:avLst/>
          </a:prstGeom>
          <a:solidFill>
            <a:srgbClr val="FDFEFC"/>
          </a:solidFill>
          <a:ln w="9525">
            <a:solidFill>
              <a:srgbClr val="D4E3EA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7650" y="1238250"/>
            <a:ext cx="514350" cy="5143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6900" y="1238250"/>
            <a:ext cx="514350" cy="514350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8477250" y="1485900"/>
            <a:ext cx="8382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29550" y="1981200"/>
            <a:ext cx="1381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核心场景 A</a:t>
            </a:r>
            <a:endParaRPr sz="12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382125" y="1981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核心场景 B</a:t>
            </a:r>
            <a:endParaRPr sz="12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29550" y="2400300"/>
            <a:ext cx="1333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简要说明场景 A 的用户、入口和履约方式。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382125" y="2400300"/>
            <a:ext cx="1333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简要说明场景 B 的用户、入口和差异能力。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62900" y="3695700"/>
            <a:ext cx="2686050" cy="1143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396240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共同底座</a:t>
            </a:r>
            <a:endParaRPr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810625" y="3943350"/>
            <a:ext cx="1952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组织、站点、资源、规则、账务、通知、快照和报表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00" b="0">
                <a:solidFill>
                  <a:srgbClr val="5A6B74"/>
                </a:solidFill>
                <a:cs typeface="微软雅黑" panose="020B0503020204020204" charset="-122"/>
              </a:rPr>
              <a:t>02</a:t>
            </a:r>
            <a:endParaRPr lang="en-US" sz="1000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标准内容页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页面主标题放这里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页面说明文字放这里。正文区域保持空白，后续根据业务自由放流程图、架构图、表格、要点或截图。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00" b="0">
                <a:solidFill>
                  <a:srgbClr val="5A6B74"/>
                </a:solidFill>
                <a:cs typeface="微软雅黑" panose="020B0503020204020204" charset="-122"/>
              </a:rPr>
              <a:t>03</a:t>
            </a:r>
            <a:endParaRPr lang="en-US" sz="1000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双栏参考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需要比较两种模式、两类角色或两个端口时使用；不需要时直接删除本页或改成自由内容页。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447800"/>
            <a:ext cx="4762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66750" y="1447800"/>
            <a:ext cx="47625" cy="342900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0600" y="1752600"/>
            <a:ext cx="361950" cy="36195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1485900" y="1771650"/>
            <a:ext cx="2762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 A</a:t>
            </a:r>
            <a:endParaRPr sz="16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95750" y="1790700"/>
            <a:ext cx="876300" cy="228600"/>
          </a:xfrm>
          <a:prstGeom prst="rect">
            <a:avLst/>
          </a:prstGeom>
          <a:solidFill>
            <a:srgbClr val="E5F2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191000" y="183832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栏目标题</a:t>
            </a:r>
            <a:endParaRPr sz="9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09650" y="234315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09650" y="24574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对比维度</a:t>
            </a:r>
            <a:endParaRPr sz="8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171700" y="24288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说明对象 A 在该维度下的规则或表现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09650" y="289560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09650" y="3009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对比维度</a:t>
            </a:r>
            <a:endParaRPr sz="8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171700" y="29813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说明对象 A 在该维度下的规则或表现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09650" y="344805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09650" y="3562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对比维度</a:t>
            </a:r>
            <a:endParaRPr sz="8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171700" y="35337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说明对象 A 在该维度下的规则或表现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09650" y="400050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09650" y="41148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对比维度</a:t>
            </a:r>
            <a:endParaRPr sz="825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171700" y="40862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说明对象 A 在该维度下的规则或表现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91250" y="1447800"/>
            <a:ext cx="4762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191250" y="1447800"/>
            <a:ext cx="47625" cy="3429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5100" y="1752600"/>
            <a:ext cx="361950" cy="361950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7010400" y="1771650"/>
            <a:ext cx="2762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 B</a:t>
            </a:r>
            <a:endParaRPr sz="16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620250" y="1790700"/>
            <a:ext cx="87630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715500" y="1838325"/>
            <a:ext cx="685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栏目标题</a:t>
            </a:r>
            <a:endParaRPr sz="9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534150" y="234315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534150" y="24574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对比维度</a:t>
            </a:r>
            <a:endParaRPr sz="8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696200" y="24288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说明对象 B 在该维度下的规则或表现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534150" y="289560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534150" y="3009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对比维度</a:t>
            </a:r>
            <a:endParaRPr sz="8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96200" y="29813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说明对象 B 在该维度下的规则或表现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534150" y="344805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534150" y="35623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对比维度</a:t>
            </a:r>
            <a:endParaRPr sz="8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696200" y="35337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说明对象 B 在该维度下的规则或表现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534150" y="4000500"/>
            <a:ext cx="4076700" cy="9525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534150" y="41148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对比维度</a:t>
            </a:r>
            <a:endParaRPr sz="8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696200" y="408622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说明对象 B 在该维度下的规则或表现</a:t>
            </a:r>
            <a:endParaRPr sz="975" b="0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000250" y="5219700"/>
            <a:ext cx="7810500" cy="666750"/>
          </a:xfrm>
          <a:prstGeom prst="rect">
            <a:avLst/>
          </a:prstGeom>
          <a:solidFill>
            <a:srgbClr val="FBFCFA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362200" y="54102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B2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底部说明文字可用于写共同口径、边界或关键提醒。</a:t>
            </a:r>
            <a:endParaRPr sz="1125" b="1">
              <a:solidFill>
                <a:srgbClr val="0B2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00" b="0">
                <a:solidFill>
                  <a:srgbClr val="5A6B74"/>
                </a:solidFill>
                <a:cs typeface="微软雅黑" panose="020B0503020204020204" charset="-122"/>
              </a:rPr>
              <a:t>04</a:t>
            </a:r>
            <a:endParaRPr lang="en-US" sz="1000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781050"/>
            <a:ext cx="72390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结束页 / 交付目标页</a:t>
            </a:r>
            <a:endParaRPr sz="31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18669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用一句话总结本业务方案要交付的业务结果和验收口径。</a:t>
            </a:r>
            <a:endParaRPr sz="13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3162300"/>
            <a:ext cx="21717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162300"/>
            <a:ext cx="47625" cy="123825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3409950"/>
            <a:ext cx="45720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34575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7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47750" y="37719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目标一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47750" y="41148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填写目标一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09950" y="3162300"/>
            <a:ext cx="21717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409950" y="3162300"/>
            <a:ext cx="47625" cy="1238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638550" y="3409950"/>
            <a:ext cx="45720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733800" y="34575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7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638550" y="37719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目标二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638550" y="41148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填写目标二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00750" y="3162300"/>
            <a:ext cx="21717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00750" y="3162300"/>
            <a:ext cx="47625" cy="1238250"/>
          </a:xfrm>
          <a:prstGeom prst="rect">
            <a:avLst/>
          </a:prstGeom>
          <a:solidFill>
            <a:srgbClr val="2D7D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229350" y="3409950"/>
            <a:ext cx="45720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324600" y="34575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2D7D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750" b="1">
              <a:solidFill>
                <a:srgbClr val="2D7D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29350" y="37719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目标三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229350" y="41148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填写目标三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591550" y="3162300"/>
            <a:ext cx="21717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591550" y="3162300"/>
            <a:ext cx="47625" cy="1238250"/>
          </a:xfrm>
          <a:prstGeom prst="rect">
            <a:avLst/>
          </a:prstGeom>
          <a:solidFill>
            <a:srgbClr val="30445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820150" y="3409950"/>
            <a:ext cx="457200" cy="228600"/>
          </a:xfrm>
          <a:prstGeom prst="rect">
            <a:avLst/>
          </a:prstGeom>
          <a:solidFill>
            <a:srgbClr val="EEF6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915400" y="34575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3044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750" b="1">
              <a:solidFill>
                <a:srgbClr val="3044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820150" y="37719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目标四</a:t>
            </a:r>
            <a:endParaRPr sz="13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820150" y="41148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填写目标四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381250" y="5124450"/>
            <a:ext cx="6667500" cy="476250"/>
          </a:xfrm>
          <a:prstGeom prst="rect">
            <a:avLst/>
          </a:prstGeom>
          <a:solidFill>
            <a:srgbClr val="DDF0F8"/>
          </a:solidFill>
          <a:ln w="9525">
            <a:solidFill>
              <a:srgbClr val="D4E3E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705100" y="5257800"/>
            <a:ext cx="609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后续扩展说明放这里，避免把未来能力写成本期承诺。</a:t>
            </a:r>
            <a:endParaRPr sz="10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00" b="0">
                <a:solidFill>
                  <a:srgbClr val="5A6B74"/>
                </a:solidFill>
                <a:cs typeface="微软雅黑" panose="020B0503020204020204" charset="-122"/>
              </a:rPr>
              <a:t>05</a:t>
            </a:r>
            <a:endParaRPr lang="en-US" sz="1000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页面展示</a:t>
            </a: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01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页面标题</a:t>
            </a:r>
            <a:r>
              <a:t>：</a:t>
            </a:r>
            <a:r>
              <a:t>页面主体功能</a:t>
            </a:r>
            <a:r>
              <a:t>用处</a:t>
            </a:r>
          </a:p>
        </p:txBody>
      </p:sp>
      <p:sp>
        <p:nvSpPr>
          <p:cNvPr id="30043" name="矩形 30043"/>
          <p:cNvSpPr>
            <a:spLocks noGrp="1"/>
          </p:cNvSpPr>
          <p:nvPr/>
        </p:nvSpPr>
        <p:spPr>
          <a:xfrm>
            <a:off x="552450" y="1763903"/>
            <a:ext cx="6903720" cy="4069080"/>
          </a:xfrm>
          <a:prstGeom prst="rect">
            <a:avLst/>
          </a:prstGeom>
          <a:solidFill>
            <a:srgbClr val="FDFEFC"/>
          </a:solidFill>
          <a:ln w="15240">
            <a:solidFill>
              <a:srgbClr val="9CC9DD"/>
            </a:solidFill>
            <a:prstDash val="dash"/>
          </a:ln>
        </p:spPr>
        <p:txBody>
          <a:bodyPr/>
          <a:lstStyle/>
          <a:p/>
        </p:txBody>
      </p:sp>
      <p:sp>
        <p:nvSpPr>
          <p:cNvPr id="30046" name="文本框 30046"/>
          <p:cNvSpPr>
            <a:spLocks noGrp="1"/>
          </p:cNvSpPr>
          <p:nvPr/>
        </p:nvSpPr>
        <p:spPr>
          <a:xfrm>
            <a:off x="8478520" y="1663573"/>
            <a:ext cx="1097280" cy="33718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说明重点</a:t>
            </a:r>
            <a:endParaRPr sz="16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47" name="矩形 30047"/>
          <p:cNvSpPr>
            <a:spLocks noGrp="1"/>
          </p:cNvSpPr>
          <p:nvPr/>
        </p:nvSpPr>
        <p:spPr>
          <a:xfrm>
            <a:off x="8478520" y="2029333"/>
            <a:ext cx="292608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/>
        </p:txBody>
      </p:sp>
      <p:sp>
        <p:nvSpPr>
          <p:cNvPr id="30048" name="矩形 30048"/>
          <p:cNvSpPr>
            <a:spLocks noGrp="1"/>
          </p:cNvSpPr>
          <p:nvPr/>
        </p:nvSpPr>
        <p:spPr>
          <a:xfrm>
            <a:off x="8478520" y="2029333"/>
            <a:ext cx="45720" cy="841248"/>
          </a:xfrm>
          <a:prstGeom prst="rect">
            <a:avLst/>
          </a:prstGeom>
          <a:solidFill>
            <a:srgbClr val="00689E"/>
          </a:solidFill>
          <a:ln w="15240">
            <a:solidFill>
              <a:srgbClr val="00689E"/>
            </a:solidFill>
          </a:ln>
        </p:spPr>
        <p:txBody>
          <a:bodyPr/>
          <a:lstStyle/>
          <a:p/>
        </p:txBody>
      </p:sp>
      <p:sp>
        <p:nvSpPr>
          <p:cNvPr id="30049" name="文本框 30049"/>
          <p:cNvSpPr>
            <a:spLocks noGrp="1"/>
          </p:cNvSpPr>
          <p:nvPr/>
        </p:nvSpPr>
        <p:spPr>
          <a:xfrm>
            <a:off x="8661400" y="2193925"/>
            <a:ext cx="201168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0" name="文本框 30050"/>
          <p:cNvSpPr>
            <a:spLocks noGrp="1"/>
          </p:cNvSpPr>
          <p:nvPr/>
        </p:nvSpPr>
        <p:spPr>
          <a:xfrm>
            <a:off x="8935720" y="2166493"/>
            <a:ext cx="214884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说明图片的</a:t>
            </a:r>
            <a:r>
              <a:rPr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重点功能</a:t>
            </a:r>
            <a:endParaRPr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1" name="文本框 30051"/>
          <p:cNvSpPr>
            <a:spLocks noGrp="1"/>
          </p:cNvSpPr>
          <p:nvPr/>
        </p:nvSpPr>
        <p:spPr>
          <a:xfrm>
            <a:off x="8935720" y="2422525"/>
            <a:ext cx="2240280" cy="2311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详细说明图片的</a:t>
            </a:r>
            <a:r>
              <a:rPr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endParaRPr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2" name="矩形 30052"/>
          <p:cNvSpPr>
            <a:spLocks noGrp="1"/>
          </p:cNvSpPr>
          <p:nvPr/>
        </p:nvSpPr>
        <p:spPr>
          <a:xfrm>
            <a:off x="8478520" y="3090037"/>
            <a:ext cx="292608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/>
        </p:txBody>
      </p:sp>
      <p:sp>
        <p:nvSpPr>
          <p:cNvPr id="30053" name="矩形 30053"/>
          <p:cNvSpPr>
            <a:spLocks noGrp="1"/>
          </p:cNvSpPr>
          <p:nvPr/>
        </p:nvSpPr>
        <p:spPr>
          <a:xfrm>
            <a:off x="8478520" y="3090037"/>
            <a:ext cx="45720" cy="841248"/>
          </a:xfrm>
          <a:prstGeom prst="rect">
            <a:avLst/>
          </a:prstGeom>
          <a:solidFill>
            <a:srgbClr val="2E7D6B"/>
          </a:solidFill>
          <a:ln w="15240">
            <a:solidFill>
              <a:srgbClr val="2E7D6B"/>
            </a:solidFill>
          </a:ln>
        </p:spPr>
        <p:txBody>
          <a:bodyPr/>
          <a:lstStyle/>
          <a:p/>
        </p:txBody>
      </p:sp>
      <p:sp>
        <p:nvSpPr>
          <p:cNvPr id="30054" name="文本框 30054"/>
          <p:cNvSpPr>
            <a:spLocks noGrp="1"/>
          </p:cNvSpPr>
          <p:nvPr/>
        </p:nvSpPr>
        <p:spPr>
          <a:xfrm>
            <a:off x="8661400" y="3254629"/>
            <a:ext cx="201168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5" name="文本框 30055"/>
          <p:cNvSpPr>
            <a:spLocks noGrp="1"/>
          </p:cNvSpPr>
          <p:nvPr/>
        </p:nvSpPr>
        <p:spPr>
          <a:xfrm>
            <a:off x="8935720" y="3227197"/>
            <a:ext cx="214884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说明图片的重点功能</a:t>
            </a:r>
            <a:endParaRPr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6" name="文本框 30056"/>
          <p:cNvSpPr>
            <a:spLocks noGrp="1"/>
          </p:cNvSpPr>
          <p:nvPr/>
        </p:nvSpPr>
        <p:spPr>
          <a:xfrm>
            <a:off x="8935720" y="3483229"/>
            <a:ext cx="2240280" cy="2311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详细说明图片的功能</a:t>
            </a:r>
            <a:endParaRPr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7" name="矩形 30057"/>
          <p:cNvSpPr>
            <a:spLocks noGrp="1"/>
          </p:cNvSpPr>
          <p:nvPr/>
        </p:nvSpPr>
        <p:spPr>
          <a:xfrm>
            <a:off x="8478520" y="4150741"/>
            <a:ext cx="292608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/>
        </p:txBody>
      </p:sp>
      <p:sp>
        <p:nvSpPr>
          <p:cNvPr id="30058" name="矩形 30058"/>
          <p:cNvSpPr>
            <a:spLocks noGrp="1"/>
          </p:cNvSpPr>
          <p:nvPr/>
        </p:nvSpPr>
        <p:spPr>
          <a:xfrm>
            <a:off x="8478520" y="4150741"/>
            <a:ext cx="45720" cy="841248"/>
          </a:xfrm>
          <a:prstGeom prst="rect">
            <a:avLst/>
          </a:prstGeom>
          <a:solidFill>
            <a:srgbClr val="C97913"/>
          </a:solidFill>
          <a:ln w="15240">
            <a:solidFill>
              <a:srgbClr val="C97913"/>
            </a:solidFill>
          </a:ln>
        </p:spPr>
        <p:txBody>
          <a:bodyPr/>
          <a:lstStyle/>
          <a:p/>
        </p:txBody>
      </p:sp>
      <p:sp>
        <p:nvSpPr>
          <p:cNvPr id="30059" name="文本框 30059"/>
          <p:cNvSpPr>
            <a:spLocks noGrp="1"/>
          </p:cNvSpPr>
          <p:nvPr/>
        </p:nvSpPr>
        <p:spPr>
          <a:xfrm>
            <a:off x="8661400" y="4315333"/>
            <a:ext cx="201168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C979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C979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60" name="文本框 30060"/>
          <p:cNvSpPr>
            <a:spLocks noGrp="1"/>
          </p:cNvSpPr>
          <p:nvPr/>
        </p:nvSpPr>
        <p:spPr>
          <a:xfrm>
            <a:off x="8935720" y="4287901"/>
            <a:ext cx="214884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说明图片的重点功能</a:t>
            </a:r>
            <a:endParaRPr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61" name="文本框 30061"/>
          <p:cNvSpPr>
            <a:spLocks noGrp="1"/>
          </p:cNvSpPr>
          <p:nvPr/>
        </p:nvSpPr>
        <p:spPr>
          <a:xfrm>
            <a:off x="8935720" y="4543933"/>
            <a:ext cx="2240280" cy="2311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详细说明图片的功能</a:t>
            </a:r>
            <a:endParaRPr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2096770" y="3582670"/>
            <a:ext cx="35382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>
                    <a:lumMod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若有需要截图则生成此样式画框</a:t>
            </a:r>
            <a:endParaRPr>
              <a:solidFill>
                <a:schemeClr val="bg1">
                  <a:lumMod val="8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页面说明文字放这里。正文区域保持空白，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00" b="0">
                <a:solidFill>
                  <a:srgbClr val="5A6B74"/>
                </a:solidFill>
                <a:cs typeface="微软雅黑" panose="020B0503020204020204" charset="-122"/>
              </a:rPr>
              <a:t>06</a:t>
            </a:r>
            <a:endParaRPr lang="en-US" sz="1000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页面展示 02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示例：后台界面排版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43" name="矩形 30043"/>
          <p:cNvSpPr>
            <a:spLocks noGrp="1"/>
          </p:cNvSpPr>
          <p:nvPr/>
        </p:nvSpPr>
        <p:spPr>
          <a:xfrm>
            <a:off x="552450" y="1763903"/>
            <a:ext cx="6903720" cy="4069080"/>
          </a:xfrm>
          <a:prstGeom prst="rect">
            <a:avLst/>
          </a:prstGeom>
          <a:solidFill>
            <a:srgbClr val="FDFEFC"/>
          </a:solidFill>
          <a:ln w="15240">
            <a:solidFill>
              <a:srgbClr val="9CC9DD"/>
            </a:solidFill>
            <a:prstDash val="dash"/>
          </a:ln>
        </p:spPr>
        <p:txBody>
          <a:bodyPr/>
          <a:lstStyle/>
          <a:p/>
        </p:txBody>
      </p:sp>
      <p:sp>
        <p:nvSpPr>
          <p:cNvPr id="30046" name="文本框 30046"/>
          <p:cNvSpPr>
            <a:spLocks noGrp="1"/>
          </p:cNvSpPr>
          <p:nvPr/>
        </p:nvSpPr>
        <p:spPr>
          <a:xfrm>
            <a:off x="8478520" y="1663573"/>
            <a:ext cx="1097280" cy="33718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说明重点</a:t>
            </a:r>
            <a:endParaRPr sz="16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47" name="矩形 30047"/>
          <p:cNvSpPr>
            <a:spLocks noGrp="1"/>
          </p:cNvSpPr>
          <p:nvPr/>
        </p:nvSpPr>
        <p:spPr>
          <a:xfrm>
            <a:off x="8478520" y="2029333"/>
            <a:ext cx="292608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/>
        </p:txBody>
      </p:sp>
      <p:sp>
        <p:nvSpPr>
          <p:cNvPr id="30048" name="矩形 30048"/>
          <p:cNvSpPr>
            <a:spLocks noGrp="1"/>
          </p:cNvSpPr>
          <p:nvPr/>
        </p:nvSpPr>
        <p:spPr>
          <a:xfrm>
            <a:off x="8478520" y="2029333"/>
            <a:ext cx="45720" cy="841248"/>
          </a:xfrm>
          <a:prstGeom prst="rect">
            <a:avLst/>
          </a:prstGeom>
          <a:solidFill>
            <a:srgbClr val="00689E"/>
          </a:solidFill>
          <a:ln w="15240">
            <a:solidFill>
              <a:srgbClr val="00689E"/>
            </a:solidFill>
          </a:ln>
        </p:spPr>
        <p:txBody>
          <a:bodyPr/>
          <a:lstStyle/>
          <a:p/>
        </p:txBody>
      </p:sp>
      <p:sp>
        <p:nvSpPr>
          <p:cNvPr id="30049" name="文本框 30049"/>
          <p:cNvSpPr>
            <a:spLocks noGrp="1"/>
          </p:cNvSpPr>
          <p:nvPr/>
        </p:nvSpPr>
        <p:spPr>
          <a:xfrm>
            <a:off x="8661400" y="2193925"/>
            <a:ext cx="201168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0" name="文本框 30050"/>
          <p:cNvSpPr>
            <a:spLocks noGrp="1"/>
          </p:cNvSpPr>
          <p:nvPr/>
        </p:nvSpPr>
        <p:spPr>
          <a:xfrm>
            <a:off x="8935720" y="2166493"/>
            <a:ext cx="214884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总览指标先行</a:t>
            </a:r>
            <a:endParaRPr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1" name="文本框 30051"/>
          <p:cNvSpPr>
            <a:spLocks noGrp="1"/>
          </p:cNvSpPr>
          <p:nvPr/>
        </p:nvSpPr>
        <p:spPr>
          <a:xfrm>
            <a:off x="8935720" y="2422525"/>
            <a:ext cx="2240280" cy="2773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第一屏呈现核心数据，方便业务快速判断状态。</a:t>
            </a:r>
            <a:endParaRPr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2" name="矩形 30052"/>
          <p:cNvSpPr>
            <a:spLocks noGrp="1"/>
          </p:cNvSpPr>
          <p:nvPr/>
        </p:nvSpPr>
        <p:spPr>
          <a:xfrm>
            <a:off x="8478520" y="3090037"/>
            <a:ext cx="292608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/>
        </p:txBody>
      </p:sp>
      <p:sp>
        <p:nvSpPr>
          <p:cNvPr id="30053" name="矩形 30053"/>
          <p:cNvSpPr>
            <a:spLocks noGrp="1"/>
          </p:cNvSpPr>
          <p:nvPr/>
        </p:nvSpPr>
        <p:spPr>
          <a:xfrm>
            <a:off x="8478520" y="3090037"/>
            <a:ext cx="45720" cy="841248"/>
          </a:xfrm>
          <a:prstGeom prst="rect">
            <a:avLst/>
          </a:prstGeom>
          <a:solidFill>
            <a:srgbClr val="2E7D6B"/>
          </a:solidFill>
          <a:ln w="15240">
            <a:solidFill>
              <a:srgbClr val="2E7D6B"/>
            </a:solidFill>
          </a:ln>
        </p:spPr>
        <p:txBody>
          <a:bodyPr/>
          <a:lstStyle/>
          <a:p/>
        </p:txBody>
      </p:sp>
      <p:sp>
        <p:nvSpPr>
          <p:cNvPr id="30054" name="文本框 30054"/>
          <p:cNvSpPr>
            <a:spLocks noGrp="1"/>
          </p:cNvSpPr>
          <p:nvPr/>
        </p:nvSpPr>
        <p:spPr>
          <a:xfrm>
            <a:off x="8661400" y="3254629"/>
            <a:ext cx="201168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5" name="文本框 30055"/>
          <p:cNvSpPr>
            <a:spLocks noGrp="1"/>
          </p:cNvSpPr>
          <p:nvPr/>
        </p:nvSpPr>
        <p:spPr>
          <a:xfrm>
            <a:off x="8935720" y="3227197"/>
            <a:ext cx="214884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异常可定位</a:t>
            </a:r>
            <a:endParaRPr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6" name="文本框 30056"/>
          <p:cNvSpPr>
            <a:spLocks noGrp="1"/>
          </p:cNvSpPr>
          <p:nvPr/>
        </p:nvSpPr>
        <p:spPr>
          <a:xfrm>
            <a:off x="8935720" y="3483229"/>
            <a:ext cx="2240280" cy="2773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列表保留状态、时间、责任人，支撑后续追踪。</a:t>
            </a:r>
            <a:endParaRPr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7" name="矩形 30057"/>
          <p:cNvSpPr>
            <a:spLocks noGrp="1"/>
          </p:cNvSpPr>
          <p:nvPr/>
        </p:nvSpPr>
        <p:spPr>
          <a:xfrm>
            <a:off x="8478520" y="4150741"/>
            <a:ext cx="292608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/>
        </p:txBody>
      </p:sp>
      <p:sp>
        <p:nvSpPr>
          <p:cNvPr id="30058" name="矩形 30058"/>
          <p:cNvSpPr>
            <a:spLocks noGrp="1"/>
          </p:cNvSpPr>
          <p:nvPr/>
        </p:nvSpPr>
        <p:spPr>
          <a:xfrm>
            <a:off x="8478520" y="4150741"/>
            <a:ext cx="45720" cy="841248"/>
          </a:xfrm>
          <a:prstGeom prst="rect">
            <a:avLst/>
          </a:prstGeom>
          <a:solidFill>
            <a:srgbClr val="C97913"/>
          </a:solidFill>
          <a:ln w="15240">
            <a:solidFill>
              <a:srgbClr val="C97913"/>
            </a:solidFill>
          </a:ln>
        </p:spPr>
        <p:txBody>
          <a:bodyPr/>
          <a:lstStyle/>
          <a:p/>
        </p:txBody>
      </p:sp>
      <p:sp>
        <p:nvSpPr>
          <p:cNvPr id="30059" name="文本框 30059"/>
          <p:cNvSpPr>
            <a:spLocks noGrp="1"/>
          </p:cNvSpPr>
          <p:nvPr/>
        </p:nvSpPr>
        <p:spPr>
          <a:xfrm>
            <a:off x="8661400" y="4315333"/>
            <a:ext cx="201168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C979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C979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60" name="文本框 30060"/>
          <p:cNvSpPr>
            <a:spLocks noGrp="1"/>
          </p:cNvSpPr>
          <p:nvPr/>
        </p:nvSpPr>
        <p:spPr>
          <a:xfrm>
            <a:off x="8935720" y="4287901"/>
            <a:ext cx="214884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操作路径明确</a:t>
            </a:r>
            <a:endParaRPr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61" name="文本框 30061"/>
          <p:cNvSpPr>
            <a:spLocks noGrp="1"/>
          </p:cNvSpPr>
          <p:nvPr/>
        </p:nvSpPr>
        <p:spPr>
          <a:xfrm>
            <a:off x="8935720" y="4543933"/>
            <a:ext cx="2240280" cy="2311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顶部动作区承接新增、导出、筛选和搜索。</a:t>
            </a:r>
            <a:endParaRPr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适合展示管理后台、工作台、数据看板、列表页或运营配置页；左侧放界面，右侧提炼关键能力。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62" name="backend mock surface"/>
          <p:cNvSpPr>
            <a:spLocks noGrp="1"/>
          </p:cNvSpPr>
          <p:nvPr/>
        </p:nvSpPr>
        <p:spPr>
          <a:xfrm>
            <a:off x="762000" y="1962150"/>
            <a:ext cx="6381750" cy="3600450"/>
          </a:xfrm>
          <a:prstGeom prst="rect">
            <a:avLst/>
          </a:prstGeom>
          <a:solidFill>
            <a:srgbClr val="F3F7FA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63" name="backend top bar"/>
          <p:cNvSpPr>
            <a:spLocks noGrp="1"/>
          </p:cNvSpPr>
          <p:nvPr/>
        </p:nvSpPr>
        <p:spPr>
          <a:xfrm>
            <a:off x="762000" y="1962150"/>
            <a:ext cx="6381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64" name="backend sidebar"/>
          <p:cNvSpPr>
            <a:spLocks noGrp="1"/>
          </p:cNvSpPr>
          <p:nvPr/>
        </p:nvSpPr>
        <p:spPr>
          <a:xfrm>
            <a:off x="762000" y="2362200"/>
            <a:ext cx="1123950" cy="3200400"/>
          </a:xfrm>
          <a:prstGeom prst="rect">
            <a:avLst/>
          </a:prstGeom>
          <a:solidFill>
            <a:srgbClr val="123044"/>
          </a:solidFill>
          <a:ln w="0">
            <a:solidFill>
              <a:srgbClr val="123044"/>
            </a:solidFill>
            <a:prstDash val="solid"/>
          </a:ln>
        </p:spPr>
      </p:sp>
      <p:sp>
        <p:nvSpPr>
          <p:cNvPr id="30065" name="矩形 30064"/>
          <p:cNvSpPr>
            <a:spLocks noGrp="1"/>
          </p:cNvSpPr>
          <p:nvPr/>
        </p:nvSpPr>
        <p:spPr>
          <a:xfrm>
            <a:off x="952500" y="209550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 Console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66" name="backend search"/>
          <p:cNvSpPr>
            <a:spLocks noGrp="1"/>
          </p:cNvSpPr>
          <p:nvPr/>
        </p:nvSpPr>
        <p:spPr>
          <a:xfrm>
            <a:off x="5476875" y="2076450"/>
            <a:ext cx="1257300" cy="171450"/>
          </a:xfrm>
          <a:prstGeom prst="rect">
            <a:avLst/>
          </a:prstGeom>
          <a:solidFill>
            <a:srgbClr val="EEF5F8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67" name="矩形 30066"/>
          <p:cNvSpPr>
            <a:spLocks noGrp="1"/>
          </p:cNvSpPr>
          <p:nvPr/>
        </p:nvSpPr>
        <p:spPr>
          <a:xfrm>
            <a:off x="5619750" y="2105025"/>
            <a:ext cx="114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40" b="0">
                <a:solidFill>
                  <a:srgbClr val="6D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6D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搜索订单 / 车辆 / 用户</a:t>
            </a:r>
            <a:endParaRPr sz="640" b="0">
              <a:solidFill>
                <a:srgbClr val="6D7F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68" name="矩形 30067"/>
          <p:cNvSpPr>
            <a:spLocks noGrp="1"/>
          </p:cNvSpPr>
          <p:nvPr/>
        </p:nvSpPr>
        <p:spPr>
          <a:xfrm>
            <a:off x="914400" y="2609850"/>
            <a:ext cx="800100" cy="228600"/>
          </a:xfrm>
          <a:prstGeom prst="rect">
            <a:avLst/>
          </a:prstGeom>
          <a:solidFill>
            <a:srgbClr val="1D7FAE"/>
          </a:solidFill>
          <a:ln w="0">
            <a:solidFill>
              <a:srgbClr val="1D7FAE"/>
            </a:solidFill>
            <a:prstDash val="solid"/>
          </a:ln>
        </p:spPr>
      </p:sp>
      <p:sp>
        <p:nvSpPr>
          <p:cNvPr id="30069" name="矩形 30068"/>
          <p:cNvSpPr>
            <a:spLocks noGrp="1"/>
          </p:cNvSpPr>
          <p:nvPr/>
        </p:nvSpPr>
        <p:spPr>
          <a:xfrm>
            <a:off x="1038225" y="2657475"/>
            <a:ext cx="666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工作台</a:t>
            </a:r>
            <a:endParaRPr sz="6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70" name="矩形 30069"/>
          <p:cNvSpPr>
            <a:spLocks noGrp="1"/>
          </p:cNvSpPr>
          <p:nvPr/>
        </p:nvSpPr>
        <p:spPr>
          <a:xfrm>
            <a:off x="914400" y="3009900"/>
            <a:ext cx="800100" cy="228600"/>
          </a:xfrm>
          <a:prstGeom prst="rect">
            <a:avLst/>
          </a:prstGeom>
          <a:solidFill>
            <a:srgbClr val="123044"/>
          </a:solidFill>
          <a:ln w="0">
            <a:solidFill>
              <a:srgbClr val="123044"/>
            </a:solidFill>
            <a:prstDash val="solid"/>
          </a:ln>
        </p:spPr>
      </p:sp>
      <p:sp>
        <p:nvSpPr>
          <p:cNvPr id="30071" name="矩形 30070"/>
          <p:cNvSpPr>
            <a:spLocks noGrp="1"/>
          </p:cNvSpPr>
          <p:nvPr/>
        </p:nvSpPr>
        <p:spPr>
          <a:xfrm>
            <a:off x="1038225" y="3057525"/>
            <a:ext cx="666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4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订单管理</a:t>
            </a:r>
            <a:endParaRPr sz="64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72" name="矩形 30071"/>
          <p:cNvSpPr>
            <a:spLocks noGrp="1"/>
          </p:cNvSpPr>
          <p:nvPr/>
        </p:nvSpPr>
        <p:spPr>
          <a:xfrm>
            <a:off x="914400" y="3409950"/>
            <a:ext cx="800100" cy="228600"/>
          </a:xfrm>
          <a:prstGeom prst="rect">
            <a:avLst/>
          </a:prstGeom>
          <a:solidFill>
            <a:srgbClr val="123044"/>
          </a:solidFill>
          <a:ln w="0">
            <a:solidFill>
              <a:srgbClr val="123044"/>
            </a:solidFill>
            <a:prstDash val="solid"/>
          </a:ln>
        </p:spPr>
      </p:sp>
      <p:sp>
        <p:nvSpPr>
          <p:cNvPr id="30073" name="矩形 30072"/>
          <p:cNvSpPr>
            <a:spLocks noGrp="1"/>
          </p:cNvSpPr>
          <p:nvPr/>
        </p:nvSpPr>
        <p:spPr>
          <a:xfrm>
            <a:off x="1038225" y="3457575"/>
            <a:ext cx="666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4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车辆资源</a:t>
            </a:r>
            <a:endParaRPr sz="64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74" name="矩形 30073"/>
          <p:cNvSpPr>
            <a:spLocks noGrp="1"/>
          </p:cNvSpPr>
          <p:nvPr/>
        </p:nvSpPr>
        <p:spPr>
          <a:xfrm>
            <a:off x="914400" y="3810000"/>
            <a:ext cx="800100" cy="228600"/>
          </a:xfrm>
          <a:prstGeom prst="rect">
            <a:avLst/>
          </a:prstGeom>
          <a:solidFill>
            <a:srgbClr val="123044"/>
          </a:solidFill>
          <a:ln w="0">
            <a:solidFill>
              <a:srgbClr val="123044"/>
            </a:solidFill>
            <a:prstDash val="solid"/>
          </a:ln>
        </p:spPr>
      </p:sp>
      <p:sp>
        <p:nvSpPr>
          <p:cNvPr id="30075" name="矩形 30074"/>
          <p:cNvSpPr>
            <a:spLocks noGrp="1"/>
          </p:cNvSpPr>
          <p:nvPr/>
        </p:nvSpPr>
        <p:spPr>
          <a:xfrm>
            <a:off x="1038225" y="3857625"/>
            <a:ext cx="666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4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规则配置</a:t>
            </a:r>
            <a:endParaRPr sz="64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76" name="矩形 30075"/>
          <p:cNvSpPr>
            <a:spLocks noGrp="1"/>
          </p:cNvSpPr>
          <p:nvPr/>
        </p:nvSpPr>
        <p:spPr>
          <a:xfrm>
            <a:off x="914400" y="4210050"/>
            <a:ext cx="800100" cy="228600"/>
          </a:xfrm>
          <a:prstGeom prst="rect">
            <a:avLst/>
          </a:prstGeom>
          <a:solidFill>
            <a:srgbClr val="123044"/>
          </a:solidFill>
          <a:ln w="0">
            <a:solidFill>
              <a:srgbClr val="123044"/>
            </a:solidFill>
            <a:prstDash val="solid"/>
          </a:ln>
        </p:spPr>
      </p:sp>
      <p:sp>
        <p:nvSpPr>
          <p:cNvPr id="30077" name="矩形 30076"/>
          <p:cNvSpPr>
            <a:spLocks noGrp="1"/>
          </p:cNvSpPr>
          <p:nvPr/>
        </p:nvSpPr>
        <p:spPr>
          <a:xfrm>
            <a:off x="1038225" y="4257675"/>
            <a:ext cx="666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4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数据报表</a:t>
            </a:r>
            <a:endParaRPr sz="64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78" name="矩形 30077"/>
          <p:cNvSpPr>
            <a:spLocks noGrp="1"/>
          </p:cNvSpPr>
          <p:nvPr/>
        </p:nvSpPr>
        <p:spPr>
          <a:xfrm>
            <a:off x="2095500" y="2590800"/>
            <a:ext cx="12954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79" name="矩形 30078"/>
          <p:cNvSpPr>
            <a:spLocks noGrp="1"/>
          </p:cNvSpPr>
          <p:nvPr/>
        </p:nvSpPr>
        <p:spPr>
          <a:xfrm>
            <a:off x="2247900" y="272415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7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今日订单</a:t>
            </a:r>
            <a:endParaRPr sz="71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80" name="矩形 30079"/>
          <p:cNvSpPr>
            <a:spLocks noGrp="1"/>
          </p:cNvSpPr>
          <p:nvPr/>
        </p:nvSpPr>
        <p:spPr>
          <a:xfrm>
            <a:off x="2247900" y="29146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186</a:t>
            </a:r>
            <a:endParaRPr sz="16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81" name="矩形 30080"/>
          <p:cNvSpPr>
            <a:spLocks noGrp="1"/>
          </p:cNvSpPr>
          <p:nvPr/>
        </p:nvSpPr>
        <p:spPr>
          <a:xfrm>
            <a:off x="3619500" y="2590800"/>
            <a:ext cx="12954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82" name="矩形 30081"/>
          <p:cNvSpPr>
            <a:spLocks noGrp="1"/>
          </p:cNvSpPr>
          <p:nvPr/>
        </p:nvSpPr>
        <p:spPr>
          <a:xfrm>
            <a:off x="3771900" y="272415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7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待处理异常</a:t>
            </a:r>
            <a:endParaRPr sz="71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83" name="矩形 30082"/>
          <p:cNvSpPr>
            <a:spLocks noGrp="1"/>
          </p:cNvSpPr>
          <p:nvPr/>
        </p:nvSpPr>
        <p:spPr>
          <a:xfrm>
            <a:off x="3771900" y="29146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1650" b="1">
                <a:solidFill>
                  <a:srgbClr val="C979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979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650" b="1">
              <a:solidFill>
                <a:srgbClr val="C979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84" name="矩形 30083"/>
          <p:cNvSpPr>
            <a:spLocks noGrp="1"/>
          </p:cNvSpPr>
          <p:nvPr/>
        </p:nvSpPr>
        <p:spPr>
          <a:xfrm>
            <a:off x="5143500" y="2590800"/>
            <a:ext cx="12954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85" name="矩形 30084"/>
          <p:cNvSpPr>
            <a:spLocks noGrp="1"/>
          </p:cNvSpPr>
          <p:nvPr/>
        </p:nvSpPr>
        <p:spPr>
          <a:xfrm>
            <a:off x="5295900" y="272415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7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1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可用车辆</a:t>
            </a:r>
            <a:endParaRPr sz="71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86" name="矩形 30085"/>
          <p:cNvSpPr>
            <a:spLocks noGrp="1"/>
          </p:cNvSpPr>
          <p:nvPr/>
        </p:nvSpPr>
        <p:spPr>
          <a:xfrm>
            <a:off x="5295900" y="29146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1650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438</a:t>
            </a:r>
            <a:endParaRPr sz="1650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87" name="backend table"/>
          <p:cNvSpPr>
            <a:spLocks noGrp="1"/>
          </p:cNvSpPr>
          <p:nvPr/>
        </p:nvSpPr>
        <p:spPr>
          <a:xfrm>
            <a:off x="2095500" y="3524250"/>
            <a:ext cx="46101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88" name="矩形 30087"/>
          <p:cNvSpPr>
            <a:spLocks noGrp="1"/>
          </p:cNvSpPr>
          <p:nvPr/>
        </p:nvSpPr>
        <p:spPr>
          <a:xfrm>
            <a:off x="2095500" y="3524250"/>
            <a:ext cx="4610100" cy="266700"/>
          </a:xfrm>
          <a:prstGeom prst="rect">
            <a:avLst/>
          </a:prstGeom>
          <a:solidFill>
            <a:srgbClr val="EAF3F7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89" name="矩形 30088"/>
          <p:cNvSpPr>
            <a:spLocks noGrp="1"/>
          </p:cNvSpPr>
          <p:nvPr/>
        </p:nvSpPr>
        <p:spPr>
          <a:xfrm>
            <a:off x="2266950" y="3600450"/>
            <a:ext cx="666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40" b="1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1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订单号</a:t>
            </a:r>
            <a:endParaRPr sz="640" b="1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90" name="矩形 30089"/>
          <p:cNvSpPr>
            <a:spLocks noGrp="1"/>
          </p:cNvSpPr>
          <p:nvPr/>
        </p:nvSpPr>
        <p:spPr>
          <a:xfrm>
            <a:off x="3314700" y="3600450"/>
            <a:ext cx="666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40" b="1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1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业务线</a:t>
            </a:r>
            <a:endParaRPr sz="640" b="1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91" name="矩形 30090"/>
          <p:cNvSpPr>
            <a:spLocks noGrp="1"/>
          </p:cNvSpPr>
          <p:nvPr/>
        </p:nvSpPr>
        <p:spPr>
          <a:xfrm>
            <a:off x="4333875" y="3600450"/>
            <a:ext cx="666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40" b="1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1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endParaRPr sz="640" b="1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92" name="矩形 30091"/>
          <p:cNvSpPr>
            <a:spLocks noGrp="1"/>
          </p:cNvSpPr>
          <p:nvPr/>
        </p:nvSpPr>
        <p:spPr>
          <a:xfrm>
            <a:off x="5429250" y="3600450"/>
            <a:ext cx="666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40" b="1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1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</a:t>
            </a:r>
            <a:endParaRPr sz="640" b="1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93" name="矩形 30092"/>
          <p:cNvSpPr>
            <a:spLocks noGrp="1"/>
          </p:cNvSpPr>
          <p:nvPr/>
        </p:nvSpPr>
        <p:spPr>
          <a:xfrm>
            <a:off x="2266950" y="3943350"/>
            <a:ext cx="4095750" cy="9525"/>
          </a:xfrm>
          <a:prstGeom prst="rect">
            <a:avLst/>
          </a:prstGeom>
          <a:solidFill>
            <a:srgbClr val="ECF1F4"/>
          </a:solidFill>
          <a:ln w="0">
            <a:solidFill>
              <a:srgbClr val="ECF1F4"/>
            </a:solidFill>
            <a:prstDash val="solid"/>
          </a:ln>
        </p:spPr>
      </p:sp>
      <p:sp>
        <p:nvSpPr>
          <p:cNvPr id="30094" name="矩形 30093"/>
          <p:cNvSpPr>
            <a:spLocks noGrp="1"/>
          </p:cNvSpPr>
          <p:nvPr/>
        </p:nvSpPr>
        <p:spPr>
          <a:xfrm>
            <a:off x="2266950" y="4010025"/>
            <a:ext cx="66675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RIMO-2400</a:t>
            </a:r>
            <a:endParaRPr sz="600" b="0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95" name="矩形 30094"/>
          <p:cNvSpPr>
            <a:spLocks noGrp="1"/>
          </p:cNvSpPr>
          <p:nvPr/>
        </p:nvSpPr>
        <p:spPr>
          <a:xfrm>
            <a:off x="3314700" y="4010025"/>
            <a:ext cx="76200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团体票券</a:t>
            </a:r>
            <a:endParaRPr sz="600" b="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96" name="矩形 30095"/>
          <p:cNvSpPr>
            <a:spLocks noGrp="1"/>
          </p:cNvSpPr>
          <p:nvPr/>
        </p:nvSpPr>
        <p:spPr>
          <a:xfrm>
            <a:off x="4333875" y="3990975"/>
            <a:ext cx="495300" cy="133350"/>
          </a:xfrm>
          <a:prstGeom prst="rect">
            <a:avLst/>
          </a:prstGeom>
          <a:solidFill>
            <a:srgbClr val="E8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97" name="矩形 30096"/>
          <p:cNvSpPr>
            <a:spLocks noGrp="1"/>
          </p:cNvSpPr>
          <p:nvPr/>
        </p:nvSpPr>
        <p:spPr>
          <a:xfrm>
            <a:off x="4429125" y="4010025"/>
            <a:ext cx="381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565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65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</a:t>
            </a:r>
            <a:endParaRPr sz="565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98" name="矩形 30097"/>
          <p:cNvSpPr>
            <a:spLocks noGrp="1"/>
          </p:cNvSpPr>
          <p:nvPr/>
        </p:nvSpPr>
        <p:spPr>
          <a:xfrm>
            <a:off x="5429250" y="4010025"/>
            <a:ext cx="45720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</a:t>
            </a:r>
            <a:endParaRPr sz="600" b="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99" name="矩形 30098"/>
          <p:cNvSpPr>
            <a:spLocks noGrp="1"/>
          </p:cNvSpPr>
          <p:nvPr/>
        </p:nvSpPr>
        <p:spPr>
          <a:xfrm>
            <a:off x="2266950" y="4210050"/>
            <a:ext cx="4095750" cy="9525"/>
          </a:xfrm>
          <a:prstGeom prst="rect">
            <a:avLst/>
          </a:prstGeom>
          <a:solidFill>
            <a:srgbClr val="ECF1F4"/>
          </a:solidFill>
          <a:ln w="0">
            <a:solidFill>
              <a:srgbClr val="ECF1F4"/>
            </a:solidFill>
            <a:prstDash val="solid"/>
          </a:ln>
        </p:spPr>
      </p:sp>
      <p:sp>
        <p:nvSpPr>
          <p:cNvPr id="30100" name="矩形 30099"/>
          <p:cNvSpPr>
            <a:spLocks noGrp="1"/>
          </p:cNvSpPr>
          <p:nvPr/>
        </p:nvSpPr>
        <p:spPr>
          <a:xfrm>
            <a:off x="2266950" y="4276725"/>
            <a:ext cx="66675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RIMO-2401</a:t>
            </a:r>
            <a:endParaRPr sz="600" b="0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01" name="矩形 30100"/>
          <p:cNvSpPr>
            <a:spLocks noGrp="1"/>
          </p:cNvSpPr>
          <p:nvPr/>
        </p:nvSpPr>
        <p:spPr>
          <a:xfrm>
            <a:off x="3314700" y="4276725"/>
            <a:ext cx="76200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</a:t>
            </a:r>
            <a:endParaRPr sz="600" b="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02" name="矩形 30101"/>
          <p:cNvSpPr>
            <a:spLocks noGrp="1"/>
          </p:cNvSpPr>
          <p:nvPr/>
        </p:nvSpPr>
        <p:spPr>
          <a:xfrm>
            <a:off x="4333875" y="4257675"/>
            <a:ext cx="495300" cy="133350"/>
          </a:xfrm>
          <a:prstGeom prst="rect">
            <a:avLst/>
          </a:prstGeom>
          <a:solidFill>
            <a:srgbClr val="FFF2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03" name="矩形 30102"/>
          <p:cNvSpPr>
            <a:spLocks noGrp="1"/>
          </p:cNvSpPr>
          <p:nvPr/>
        </p:nvSpPr>
        <p:spPr>
          <a:xfrm>
            <a:off x="4429125" y="4276725"/>
            <a:ext cx="381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565" b="1">
                <a:solidFill>
                  <a:srgbClr val="C979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65" b="1">
                <a:solidFill>
                  <a:srgbClr val="C979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待处理</a:t>
            </a:r>
            <a:endParaRPr sz="565" b="1">
              <a:solidFill>
                <a:srgbClr val="C979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04" name="矩形 30103"/>
          <p:cNvSpPr>
            <a:spLocks noGrp="1"/>
          </p:cNvSpPr>
          <p:nvPr/>
        </p:nvSpPr>
        <p:spPr>
          <a:xfrm>
            <a:off x="5429250" y="4276725"/>
            <a:ext cx="45720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</a:t>
            </a:r>
            <a:endParaRPr sz="600" b="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05" name="矩形 30104"/>
          <p:cNvSpPr>
            <a:spLocks noGrp="1"/>
          </p:cNvSpPr>
          <p:nvPr/>
        </p:nvSpPr>
        <p:spPr>
          <a:xfrm>
            <a:off x="2266950" y="4476750"/>
            <a:ext cx="4095750" cy="9525"/>
          </a:xfrm>
          <a:prstGeom prst="rect">
            <a:avLst/>
          </a:prstGeom>
          <a:solidFill>
            <a:srgbClr val="ECF1F4"/>
          </a:solidFill>
          <a:ln w="0">
            <a:solidFill>
              <a:srgbClr val="ECF1F4"/>
            </a:solidFill>
            <a:prstDash val="solid"/>
          </a:ln>
        </p:spPr>
      </p:sp>
      <p:sp>
        <p:nvSpPr>
          <p:cNvPr id="30106" name="矩形 30105"/>
          <p:cNvSpPr>
            <a:spLocks noGrp="1"/>
          </p:cNvSpPr>
          <p:nvPr/>
        </p:nvSpPr>
        <p:spPr>
          <a:xfrm>
            <a:off x="2266950" y="4543425"/>
            <a:ext cx="66675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RIMO-2402</a:t>
            </a:r>
            <a:endParaRPr sz="600" b="0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07" name="矩形 30106"/>
          <p:cNvSpPr>
            <a:spLocks noGrp="1"/>
          </p:cNvSpPr>
          <p:nvPr/>
        </p:nvSpPr>
        <p:spPr>
          <a:xfrm>
            <a:off x="3314700" y="4543425"/>
            <a:ext cx="76200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团体票券</a:t>
            </a:r>
            <a:endParaRPr sz="600" b="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08" name="矩形 30107"/>
          <p:cNvSpPr>
            <a:spLocks noGrp="1"/>
          </p:cNvSpPr>
          <p:nvPr/>
        </p:nvSpPr>
        <p:spPr>
          <a:xfrm>
            <a:off x="4333875" y="4524375"/>
            <a:ext cx="495300" cy="133350"/>
          </a:xfrm>
          <a:prstGeom prst="rect">
            <a:avLst/>
          </a:prstGeom>
          <a:solidFill>
            <a:srgbClr val="E8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09" name="矩形 30108"/>
          <p:cNvSpPr>
            <a:spLocks noGrp="1"/>
          </p:cNvSpPr>
          <p:nvPr/>
        </p:nvSpPr>
        <p:spPr>
          <a:xfrm>
            <a:off x="4429125" y="4543425"/>
            <a:ext cx="381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565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65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</a:t>
            </a:r>
            <a:endParaRPr sz="565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10" name="矩形 30109"/>
          <p:cNvSpPr>
            <a:spLocks noGrp="1"/>
          </p:cNvSpPr>
          <p:nvPr/>
        </p:nvSpPr>
        <p:spPr>
          <a:xfrm>
            <a:off x="5429250" y="4543425"/>
            <a:ext cx="45720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</a:t>
            </a:r>
            <a:endParaRPr sz="600" b="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11" name="矩形 30110"/>
          <p:cNvSpPr>
            <a:spLocks noGrp="1"/>
          </p:cNvSpPr>
          <p:nvPr/>
        </p:nvSpPr>
        <p:spPr>
          <a:xfrm>
            <a:off x="2266950" y="4743450"/>
            <a:ext cx="4095750" cy="9525"/>
          </a:xfrm>
          <a:prstGeom prst="rect">
            <a:avLst/>
          </a:prstGeom>
          <a:solidFill>
            <a:srgbClr val="ECF1F4"/>
          </a:solidFill>
          <a:ln w="0">
            <a:solidFill>
              <a:srgbClr val="ECF1F4"/>
            </a:solidFill>
            <a:prstDash val="solid"/>
          </a:ln>
        </p:spPr>
      </p:sp>
      <p:sp>
        <p:nvSpPr>
          <p:cNvPr id="30112" name="矩形 30111"/>
          <p:cNvSpPr>
            <a:spLocks noGrp="1"/>
          </p:cNvSpPr>
          <p:nvPr/>
        </p:nvSpPr>
        <p:spPr>
          <a:xfrm>
            <a:off x="2266950" y="4810125"/>
            <a:ext cx="66675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RIMO-2403</a:t>
            </a:r>
            <a:endParaRPr sz="600" b="0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13" name="矩形 30112"/>
          <p:cNvSpPr>
            <a:spLocks noGrp="1"/>
          </p:cNvSpPr>
          <p:nvPr/>
        </p:nvSpPr>
        <p:spPr>
          <a:xfrm>
            <a:off x="3314700" y="4810125"/>
            <a:ext cx="76200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门市租赁</a:t>
            </a:r>
            <a:endParaRPr sz="600" b="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14" name="矩形 30113"/>
          <p:cNvSpPr>
            <a:spLocks noGrp="1"/>
          </p:cNvSpPr>
          <p:nvPr/>
        </p:nvSpPr>
        <p:spPr>
          <a:xfrm>
            <a:off x="4333875" y="4791075"/>
            <a:ext cx="495300" cy="133350"/>
          </a:xfrm>
          <a:prstGeom prst="rect">
            <a:avLst/>
          </a:prstGeom>
          <a:solidFill>
            <a:srgbClr val="E8F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115" name="矩形 30114"/>
          <p:cNvSpPr>
            <a:spLocks noGrp="1"/>
          </p:cNvSpPr>
          <p:nvPr/>
        </p:nvSpPr>
        <p:spPr>
          <a:xfrm>
            <a:off x="4429125" y="4810125"/>
            <a:ext cx="381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565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65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</a:t>
            </a:r>
            <a:endParaRPr sz="565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116" name="矩形 30115"/>
          <p:cNvSpPr>
            <a:spLocks noGrp="1"/>
          </p:cNvSpPr>
          <p:nvPr/>
        </p:nvSpPr>
        <p:spPr>
          <a:xfrm>
            <a:off x="5429250" y="4810125"/>
            <a:ext cx="45720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客服</a:t>
            </a:r>
            <a:endParaRPr sz="600" b="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00" b="0">
                <a:solidFill>
                  <a:srgbClr val="5A6B74"/>
                </a:solidFill>
                <a:cs typeface="微软雅黑" panose="020B0503020204020204" charset="-122"/>
              </a:rPr>
              <a:t>07</a:t>
            </a:r>
            <a:endParaRPr lang="en-US" sz="1000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页面展示 03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示例：移动端页面排版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43" name="矩形 30043"/>
          <p:cNvSpPr>
            <a:spLocks noGrp="1"/>
          </p:cNvSpPr>
          <p:nvPr/>
        </p:nvSpPr>
        <p:spPr>
          <a:xfrm>
            <a:off x="552450" y="1763903"/>
            <a:ext cx="6903720" cy="4069080"/>
          </a:xfrm>
          <a:prstGeom prst="rect">
            <a:avLst/>
          </a:prstGeom>
          <a:solidFill>
            <a:srgbClr val="FDFEFC"/>
          </a:solidFill>
          <a:ln w="15240">
            <a:solidFill>
              <a:srgbClr val="9CC9DD"/>
            </a:solidFill>
            <a:prstDash val="dash"/>
          </a:ln>
        </p:spPr>
        <p:txBody>
          <a:bodyPr/>
          <a:lstStyle/>
          <a:p/>
        </p:txBody>
      </p:sp>
      <p:sp>
        <p:nvSpPr>
          <p:cNvPr id="30046" name="文本框 30046"/>
          <p:cNvSpPr>
            <a:spLocks noGrp="1"/>
          </p:cNvSpPr>
          <p:nvPr/>
        </p:nvSpPr>
        <p:spPr>
          <a:xfrm>
            <a:off x="8478520" y="1663573"/>
            <a:ext cx="1097280" cy="33718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说明重点</a:t>
            </a:r>
            <a:endParaRPr sz="16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47" name="矩形 30047"/>
          <p:cNvSpPr>
            <a:spLocks noGrp="1"/>
          </p:cNvSpPr>
          <p:nvPr/>
        </p:nvSpPr>
        <p:spPr>
          <a:xfrm>
            <a:off x="8478520" y="2029333"/>
            <a:ext cx="292608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/>
        </p:txBody>
      </p:sp>
      <p:sp>
        <p:nvSpPr>
          <p:cNvPr id="30048" name="矩形 30048"/>
          <p:cNvSpPr>
            <a:spLocks noGrp="1"/>
          </p:cNvSpPr>
          <p:nvPr/>
        </p:nvSpPr>
        <p:spPr>
          <a:xfrm>
            <a:off x="8478520" y="2029333"/>
            <a:ext cx="45720" cy="841248"/>
          </a:xfrm>
          <a:prstGeom prst="rect">
            <a:avLst/>
          </a:prstGeom>
          <a:solidFill>
            <a:srgbClr val="00689E"/>
          </a:solidFill>
          <a:ln w="15240">
            <a:solidFill>
              <a:srgbClr val="00689E"/>
            </a:solidFill>
          </a:ln>
        </p:spPr>
        <p:txBody>
          <a:bodyPr/>
          <a:lstStyle/>
          <a:p/>
        </p:txBody>
      </p:sp>
      <p:sp>
        <p:nvSpPr>
          <p:cNvPr id="30049" name="文本框 30049"/>
          <p:cNvSpPr>
            <a:spLocks noGrp="1"/>
          </p:cNvSpPr>
          <p:nvPr/>
        </p:nvSpPr>
        <p:spPr>
          <a:xfrm>
            <a:off x="8661400" y="2193925"/>
            <a:ext cx="201168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0" name="文本框 30050"/>
          <p:cNvSpPr>
            <a:spLocks noGrp="1"/>
          </p:cNvSpPr>
          <p:nvPr/>
        </p:nvSpPr>
        <p:spPr>
          <a:xfrm>
            <a:off x="8935720" y="2166493"/>
            <a:ext cx="214884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用户路径清晰</a:t>
            </a:r>
            <a:endParaRPr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1" name="文本框 30051"/>
          <p:cNvSpPr>
            <a:spLocks noGrp="1"/>
          </p:cNvSpPr>
          <p:nvPr/>
        </p:nvSpPr>
        <p:spPr>
          <a:xfrm>
            <a:off x="8935720" y="2422525"/>
            <a:ext cx="2240280" cy="2311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按入口、选择、提交拆解页面价值。</a:t>
            </a:r>
            <a:endParaRPr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2" name="矩形 30052"/>
          <p:cNvSpPr>
            <a:spLocks noGrp="1"/>
          </p:cNvSpPr>
          <p:nvPr/>
        </p:nvSpPr>
        <p:spPr>
          <a:xfrm>
            <a:off x="8478520" y="3090037"/>
            <a:ext cx="292608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/>
        </p:txBody>
      </p:sp>
      <p:sp>
        <p:nvSpPr>
          <p:cNvPr id="30053" name="矩形 30053"/>
          <p:cNvSpPr>
            <a:spLocks noGrp="1"/>
          </p:cNvSpPr>
          <p:nvPr/>
        </p:nvSpPr>
        <p:spPr>
          <a:xfrm>
            <a:off x="8478520" y="3090037"/>
            <a:ext cx="45720" cy="841248"/>
          </a:xfrm>
          <a:prstGeom prst="rect">
            <a:avLst/>
          </a:prstGeom>
          <a:solidFill>
            <a:srgbClr val="2E7D6B"/>
          </a:solidFill>
          <a:ln w="15240">
            <a:solidFill>
              <a:srgbClr val="2E7D6B"/>
            </a:solidFill>
          </a:ln>
        </p:spPr>
        <p:txBody>
          <a:bodyPr/>
          <a:lstStyle/>
          <a:p/>
        </p:txBody>
      </p:sp>
      <p:sp>
        <p:nvSpPr>
          <p:cNvPr id="30054" name="文本框 30054"/>
          <p:cNvSpPr>
            <a:spLocks noGrp="1"/>
          </p:cNvSpPr>
          <p:nvPr/>
        </p:nvSpPr>
        <p:spPr>
          <a:xfrm>
            <a:off x="8661400" y="3254629"/>
            <a:ext cx="201168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5" name="文本框 30055"/>
          <p:cNvSpPr>
            <a:spLocks noGrp="1"/>
          </p:cNvSpPr>
          <p:nvPr/>
        </p:nvSpPr>
        <p:spPr>
          <a:xfrm>
            <a:off x="8935720" y="3227197"/>
            <a:ext cx="214884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关键信息可扫读</a:t>
            </a:r>
            <a:endParaRPr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6" name="文本框 30056"/>
          <p:cNvSpPr>
            <a:spLocks noGrp="1"/>
          </p:cNvSpPr>
          <p:nvPr/>
        </p:nvSpPr>
        <p:spPr>
          <a:xfrm>
            <a:off x="8935720" y="3483229"/>
            <a:ext cx="2240280" cy="2311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站点、时间、车型和余量保持一眼可见。</a:t>
            </a:r>
            <a:endParaRPr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7" name="矩形 30057"/>
          <p:cNvSpPr>
            <a:spLocks noGrp="1"/>
          </p:cNvSpPr>
          <p:nvPr/>
        </p:nvSpPr>
        <p:spPr>
          <a:xfrm>
            <a:off x="8478520" y="4150741"/>
            <a:ext cx="292608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/>
        </p:txBody>
      </p:sp>
      <p:sp>
        <p:nvSpPr>
          <p:cNvPr id="30058" name="矩形 30058"/>
          <p:cNvSpPr>
            <a:spLocks noGrp="1"/>
          </p:cNvSpPr>
          <p:nvPr/>
        </p:nvSpPr>
        <p:spPr>
          <a:xfrm>
            <a:off x="8478520" y="4150741"/>
            <a:ext cx="45720" cy="841248"/>
          </a:xfrm>
          <a:prstGeom prst="rect">
            <a:avLst/>
          </a:prstGeom>
          <a:solidFill>
            <a:srgbClr val="C97913"/>
          </a:solidFill>
          <a:ln w="15240">
            <a:solidFill>
              <a:srgbClr val="C97913"/>
            </a:solidFill>
          </a:ln>
        </p:spPr>
        <p:txBody>
          <a:bodyPr/>
          <a:lstStyle/>
          <a:p/>
        </p:txBody>
      </p:sp>
      <p:sp>
        <p:nvSpPr>
          <p:cNvPr id="30059" name="文本框 30059"/>
          <p:cNvSpPr>
            <a:spLocks noGrp="1"/>
          </p:cNvSpPr>
          <p:nvPr/>
        </p:nvSpPr>
        <p:spPr>
          <a:xfrm>
            <a:off x="8661400" y="4315333"/>
            <a:ext cx="201168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C9791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C9791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60" name="文本框 30060"/>
          <p:cNvSpPr>
            <a:spLocks noGrp="1"/>
          </p:cNvSpPr>
          <p:nvPr/>
        </p:nvSpPr>
        <p:spPr>
          <a:xfrm>
            <a:off x="8935720" y="4287901"/>
            <a:ext cx="214884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转化动作突出</a:t>
            </a:r>
            <a:endParaRPr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61" name="文本框 30061"/>
          <p:cNvSpPr>
            <a:spLocks noGrp="1"/>
          </p:cNvSpPr>
          <p:nvPr/>
        </p:nvSpPr>
        <p:spPr>
          <a:xfrm>
            <a:off x="8935720" y="4543933"/>
            <a:ext cx="2240280" cy="2311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主按钮固定在屏幕底部，承接提交动作</a:t>
            </a:r>
            <a:endParaRPr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适合展示 APP、小程序、H5 或移动端原型；画框可按截图尺寸调整，周边说明突出用户路径。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62" name="mobile mock surface"/>
          <p:cNvSpPr>
            <a:spLocks noGrp="1"/>
          </p:cNvSpPr>
          <p:nvPr/>
        </p:nvSpPr>
        <p:spPr>
          <a:xfrm>
            <a:off x="819150" y="1924050"/>
            <a:ext cx="6286500" cy="3695700"/>
          </a:xfrm>
          <a:prstGeom prst="rect">
            <a:avLst/>
          </a:prstGeom>
          <a:solidFill>
            <a:srgbClr val="F1F6F9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63" name="phone shell"/>
          <p:cNvSpPr>
            <a:spLocks noGrp="1"/>
          </p:cNvSpPr>
          <p:nvPr/>
        </p:nvSpPr>
        <p:spPr>
          <a:xfrm>
            <a:off x="2857500" y="2114550"/>
            <a:ext cx="2190750" cy="3238500"/>
          </a:xfrm>
          <a:prstGeom prst="rect">
            <a:avLst/>
          </a:prstGeom>
          <a:solidFill>
            <a:srgbClr val="14242E"/>
          </a:solidFill>
          <a:ln w="0">
            <a:solidFill>
              <a:srgbClr val="14242E"/>
            </a:solidFill>
            <a:prstDash val="solid"/>
          </a:ln>
        </p:spPr>
      </p:sp>
      <p:sp>
        <p:nvSpPr>
          <p:cNvPr id="30064" name="phone screen"/>
          <p:cNvSpPr>
            <a:spLocks noGrp="1"/>
          </p:cNvSpPr>
          <p:nvPr/>
        </p:nvSpPr>
        <p:spPr>
          <a:xfrm>
            <a:off x="2981325" y="2266950"/>
            <a:ext cx="1943100" cy="29146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0065" name="phone speaker"/>
          <p:cNvSpPr>
            <a:spLocks noGrp="1"/>
          </p:cNvSpPr>
          <p:nvPr/>
        </p:nvSpPr>
        <p:spPr>
          <a:xfrm>
            <a:off x="3638550" y="2190750"/>
            <a:ext cx="628650" cy="47625"/>
          </a:xfrm>
          <a:prstGeom prst="rect">
            <a:avLst/>
          </a:prstGeom>
          <a:solidFill>
            <a:srgbClr val="324B58"/>
          </a:solidFill>
          <a:ln w="0">
            <a:solidFill>
              <a:srgbClr val="324B58"/>
            </a:solidFill>
            <a:prstDash val="solid"/>
          </a:ln>
        </p:spPr>
      </p:sp>
      <p:sp>
        <p:nvSpPr>
          <p:cNvPr id="30066" name="矩形 30065"/>
          <p:cNvSpPr>
            <a:spLocks noGrp="1"/>
          </p:cNvSpPr>
          <p:nvPr/>
        </p:nvSpPr>
        <p:spPr>
          <a:xfrm>
            <a:off x="2981325" y="2266950"/>
            <a:ext cx="1943100" cy="533400"/>
          </a:xfrm>
          <a:prstGeom prst="rect">
            <a:avLst/>
          </a:prstGeom>
          <a:solidFill>
            <a:srgbClr val="00689E"/>
          </a:solidFill>
          <a:ln w="0">
            <a:solidFill>
              <a:srgbClr val="00689E"/>
            </a:solidFill>
            <a:prstDash val="solid"/>
          </a:ln>
        </p:spPr>
      </p:sp>
      <p:sp>
        <p:nvSpPr>
          <p:cNvPr id="30067" name="矩形 30066"/>
          <p:cNvSpPr>
            <a:spLocks noGrp="1"/>
          </p:cNvSpPr>
          <p:nvPr/>
        </p:nvSpPr>
        <p:spPr>
          <a:xfrm>
            <a:off x="3190875" y="24193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车辆预约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68" name="矩形 30067"/>
          <p:cNvSpPr>
            <a:spLocks noGrp="1"/>
          </p:cNvSpPr>
          <p:nvPr/>
        </p:nvSpPr>
        <p:spPr>
          <a:xfrm>
            <a:off x="3190875" y="2628900"/>
            <a:ext cx="1333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40" b="0">
                <a:solidFill>
                  <a:srgbClr val="DD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0">
                <a:solidFill>
                  <a:srgbClr val="DDED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选择站点、时间与车型</a:t>
            </a:r>
            <a:endParaRPr sz="640" b="0">
              <a:solidFill>
                <a:srgbClr val="DDED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69" name="矩形 30068"/>
          <p:cNvSpPr>
            <a:spLocks noGrp="1"/>
          </p:cNvSpPr>
          <p:nvPr/>
        </p:nvSpPr>
        <p:spPr>
          <a:xfrm>
            <a:off x="3143250" y="3009900"/>
            <a:ext cx="1619250" cy="400050"/>
          </a:xfrm>
          <a:prstGeom prst="rect">
            <a:avLst/>
          </a:prstGeom>
          <a:solidFill>
            <a:srgbClr val="F5F9FC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70" name="矩形 30069"/>
          <p:cNvSpPr>
            <a:spLocks noGrp="1"/>
          </p:cNvSpPr>
          <p:nvPr/>
        </p:nvSpPr>
        <p:spPr>
          <a:xfrm>
            <a:off x="3295650" y="3105150"/>
            <a:ext cx="66675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取车站点</a:t>
            </a:r>
            <a:endParaRPr sz="6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71" name="矩形 30070"/>
          <p:cNvSpPr>
            <a:spLocks noGrp="1"/>
          </p:cNvSpPr>
          <p:nvPr/>
        </p:nvSpPr>
        <p:spPr>
          <a:xfrm>
            <a:off x="3295650" y="3238500"/>
            <a:ext cx="1047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75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台北车站服务点</a:t>
            </a:r>
            <a:endParaRPr sz="675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72" name="矩形 30071"/>
          <p:cNvSpPr>
            <a:spLocks noGrp="1"/>
          </p:cNvSpPr>
          <p:nvPr/>
        </p:nvSpPr>
        <p:spPr>
          <a:xfrm>
            <a:off x="3143250" y="3543300"/>
            <a:ext cx="1619250" cy="400050"/>
          </a:xfrm>
          <a:prstGeom prst="rect">
            <a:avLst/>
          </a:prstGeom>
          <a:solidFill>
            <a:srgbClr val="F5F9FC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73" name="矩形 30072"/>
          <p:cNvSpPr>
            <a:spLocks noGrp="1"/>
          </p:cNvSpPr>
          <p:nvPr/>
        </p:nvSpPr>
        <p:spPr>
          <a:xfrm>
            <a:off x="3295650" y="3638550"/>
            <a:ext cx="666750" cy="104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用车时间</a:t>
            </a:r>
            <a:endParaRPr sz="6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74" name="矩形 30073"/>
          <p:cNvSpPr>
            <a:spLocks noGrp="1"/>
          </p:cNvSpPr>
          <p:nvPr/>
        </p:nvSpPr>
        <p:spPr>
          <a:xfrm>
            <a:off x="3295650" y="3771900"/>
            <a:ext cx="1238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75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05/28 10:00 - 18:00</a:t>
            </a:r>
            <a:endParaRPr sz="675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75" name="矩形 30074"/>
          <p:cNvSpPr>
            <a:spLocks noGrp="1"/>
          </p:cNvSpPr>
          <p:nvPr/>
        </p:nvSpPr>
        <p:spPr>
          <a:xfrm>
            <a:off x="3143250" y="4095750"/>
            <a:ext cx="1619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76" name="矩形 30075"/>
          <p:cNvSpPr>
            <a:spLocks noGrp="1"/>
          </p:cNvSpPr>
          <p:nvPr/>
        </p:nvSpPr>
        <p:spPr>
          <a:xfrm>
            <a:off x="3257550" y="4210050"/>
            <a:ext cx="400050" cy="247650"/>
          </a:xfrm>
          <a:prstGeom prst="rect">
            <a:avLst/>
          </a:prstGeom>
          <a:solidFill>
            <a:srgbClr val="EAF3F7"/>
          </a:solidFill>
          <a:ln w="9525">
            <a:solidFill>
              <a:srgbClr val="9CC9DD"/>
            </a:solidFill>
            <a:prstDash val="solid"/>
          </a:ln>
        </p:spPr>
      </p:sp>
      <p:sp>
        <p:nvSpPr>
          <p:cNvPr id="30077" name="矩形 30076"/>
          <p:cNvSpPr>
            <a:spLocks noGrp="1"/>
          </p:cNvSpPr>
          <p:nvPr/>
        </p:nvSpPr>
        <p:spPr>
          <a:xfrm>
            <a:off x="3790950" y="4181475"/>
            <a:ext cx="57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675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经济型</a:t>
            </a:r>
            <a:endParaRPr sz="675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78" name="矩形 30077"/>
          <p:cNvSpPr>
            <a:spLocks noGrp="1"/>
          </p:cNvSpPr>
          <p:nvPr/>
        </p:nvSpPr>
        <p:spPr>
          <a:xfrm>
            <a:off x="3790950" y="4343400"/>
            <a:ext cx="8953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l">
              <a:defRPr sz="5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6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剩余 8 台，可立即预约</a:t>
            </a:r>
            <a:endParaRPr sz="56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79" name="矩形 30078"/>
          <p:cNvSpPr>
            <a:spLocks noGrp="1"/>
          </p:cNvSpPr>
          <p:nvPr/>
        </p:nvSpPr>
        <p:spPr>
          <a:xfrm>
            <a:off x="3143250" y="4724400"/>
            <a:ext cx="1619250" cy="285750"/>
          </a:xfrm>
          <a:prstGeom prst="rect">
            <a:avLst/>
          </a:prstGeom>
          <a:solidFill>
            <a:srgbClr val="00689E"/>
          </a:solidFill>
          <a:ln w="0">
            <a:solidFill>
              <a:srgbClr val="00689E"/>
            </a:solidFill>
            <a:prstDash val="solid"/>
          </a:ln>
        </p:spPr>
      </p:sp>
      <p:sp>
        <p:nvSpPr>
          <p:cNvPr id="30080" name="矩形 30079"/>
          <p:cNvSpPr>
            <a:spLocks noGrp="1"/>
          </p:cNvSpPr>
          <p:nvPr/>
        </p:nvSpPr>
        <p:spPr>
          <a:xfrm>
            <a:off x="3667125" y="4800600"/>
            <a:ext cx="666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ctr">
              <a:def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提交预约</a:t>
            </a:r>
            <a:endParaRPr sz="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81" name="矩形 30080"/>
          <p:cNvSpPr>
            <a:spLocks noGrp="1"/>
          </p:cNvSpPr>
          <p:nvPr/>
        </p:nvSpPr>
        <p:spPr>
          <a:xfrm>
            <a:off x="1143000" y="2571750"/>
            <a:ext cx="10287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82" name="矩形 30081"/>
          <p:cNvSpPr>
            <a:spLocks noGrp="1"/>
          </p:cNvSpPr>
          <p:nvPr/>
        </p:nvSpPr>
        <p:spPr>
          <a:xfrm>
            <a:off x="1352550" y="27241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ctr">
              <a:def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入口层</a:t>
            </a:r>
            <a:endParaRPr sz="825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83" name="矩形 30082"/>
          <p:cNvSpPr>
            <a:spLocks noGrp="1"/>
          </p:cNvSpPr>
          <p:nvPr/>
        </p:nvSpPr>
        <p:spPr>
          <a:xfrm>
            <a:off x="1257300" y="2914650"/>
            <a:ext cx="8191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ctr">
              <a:defRPr sz="6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 / 小程序 / APP</a:t>
            </a:r>
            <a:endParaRPr sz="6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84" name="矩形 30083"/>
          <p:cNvSpPr>
            <a:spLocks noGrp="1"/>
          </p:cNvSpPr>
          <p:nvPr/>
        </p:nvSpPr>
        <p:spPr>
          <a:xfrm>
            <a:off x="5667375" y="3638550"/>
            <a:ext cx="1047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  <a:prstDash val="solid"/>
          </a:ln>
        </p:spPr>
      </p:sp>
      <p:sp>
        <p:nvSpPr>
          <p:cNvPr id="30085" name="矩形 30084"/>
          <p:cNvSpPr>
            <a:spLocks noGrp="1"/>
          </p:cNvSpPr>
          <p:nvPr/>
        </p:nvSpPr>
        <p:spPr>
          <a:xfrm>
            <a:off x="5905500" y="37909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ctr">
              <a:defRPr sz="825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提交层</a:t>
            </a:r>
            <a:endParaRPr sz="825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86" name="矩形 30085"/>
          <p:cNvSpPr>
            <a:spLocks noGrp="1"/>
          </p:cNvSpPr>
          <p:nvPr/>
        </p:nvSpPr>
        <p:spPr>
          <a:xfrm>
            <a:off x="5829300" y="3981450"/>
            <a:ext cx="7429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/>
          <a:lstStyle/>
          <a:p>
            <a:pPr algn="ctr">
              <a:defRPr sz="6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规则校验 / 支付</a:t>
            </a:r>
            <a:endParaRPr sz="6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00" b="0">
                <a:solidFill>
                  <a:srgbClr val="5A6B74"/>
                </a:solidFill>
                <a:cs typeface="微软雅黑" panose="020B0503020204020204" charset="-122"/>
              </a:rPr>
              <a:t>08</a:t>
            </a:r>
            <a:endParaRPr lang="en-US" sz="1000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>
                <a:solidFill>
                  <a:srgbClr val="00689E"/>
                </a:solidFill>
                <a:cs typeface="微软雅黑" panose="020B0503020204020204" charset="-122"/>
              </a:rPr>
              <a:t>数据表模板</a:t>
            </a:r>
            <a:endParaRPr lang="zh-CN">
              <a:solidFill>
                <a:srgbClr val="00689E"/>
              </a:solidFill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>
                <a:solidFill>
                  <a:srgbClr val="14242E"/>
                </a:solidFill>
                <a:cs typeface="微软雅黑" panose="020B0503020204020204" charset="-122"/>
              </a:rPr>
              <a:t>工时与数据表模板</a:t>
            </a:r>
            <a:endParaRPr lang="zh-CN">
              <a:solidFill>
                <a:srgbClr val="14242E"/>
              </a:solidFill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00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graphicFrame>
        <p:nvGraphicFramePr>
          <p:cNvPr id="2" name="原生表格模板-工时表"/>
          <p:cNvGraphicFramePr/>
          <p:nvPr/>
        </p:nvGraphicFramePr>
        <p:xfrm>
          <a:off x="666750" y="1351280"/>
          <a:ext cx="10426700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3810000"/>
                <a:gridCol w="914400"/>
                <a:gridCol w="914400"/>
                <a:gridCol w="914400"/>
                <a:gridCol w="990600"/>
                <a:gridCol w="1358900"/>
              </a:tblGrid>
              <a:tr h="406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功能模块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范围说明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前端</a:t>
                      </a:r>
                      <a:r>
                        <a:rPr lang="en-US" altLang="zh-CN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人天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后端</a:t>
                      </a:r>
                      <a:r>
                        <a:rPr lang="en-US" altLang="zh-CN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人天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r>
                        <a:rPr lang="en-US" altLang="zh-CN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人天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合计</a:t>
                      </a:r>
                      <a:r>
                        <a:rPr lang="en-US" altLang="zh-CN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人天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00689E"/>
                    </a:solidFill>
                  </a:tcPr>
                </a:tc>
              </a:tr>
              <a:tr h="4445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页面与交互</a:t>
                      </a: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列表、筛选、弹窗、详情页或状态展示</a:t>
                      </a: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业务规则</a:t>
                      </a: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规则校验、状态流转、异常处理、资料补齐</a:t>
                      </a: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</a:tr>
              <a:tr h="4445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通知与集成</a:t>
                      </a: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站内通知、外部接口、条件匹配、发送记录</a:t>
                      </a: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数据与报表</a:t>
                      </a: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统计口径、导出、数据权限、历史记录</a:t>
                      </a: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</a:tr>
              <a:tr h="4445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联调与验收</a:t>
                      </a: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接口联调、异常场景、回归测试、验收修正</a:t>
                      </a: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合计</a:t>
                      </a:r>
                      <a:endParaRPr lang="zh-CN" altLang="en-US" sz="1000" b="1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汇总前端、后端、测试与整体人天</a:t>
                      </a:r>
                      <a:endParaRPr lang="zh-CN" altLang="en-US" sz="1000" b="1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1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1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1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1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1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1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US" sz="1400" b="1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400" b="1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85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填入压缩口径或风险说明</a:t>
                      </a:r>
                      <a:endParaRPr lang="zh-CN" altLang="en-US" sz="85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7FBFD"/>
                    </a:solidFill>
                  </a:tcPr>
                </a:tc>
              </a:tr>
            </a:tbl>
          </a:graphicData>
        </a:graphic>
      </p:graphicFrame>
      <p:sp>
        <p:nvSpPr>
          <p:cNvPr id="3" name="周期表分组标题"/>
          <p:cNvSpPr txBox="1"/>
          <p:nvPr/>
        </p:nvSpPr>
        <p:spPr>
          <a:xfrm>
            <a:off x="736600" y="4572000"/>
            <a:ext cx="6350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</a:rPr>
              <a:t>开发周期与排期备注</a:t>
            </a:r>
            <a:endParaRPr lang="zh-CN" altLang="en-US" sz="16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原生表格模板-周期表"/>
          <p:cNvGraphicFramePr/>
          <p:nvPr/>
        </p:nvGraphicFramePr>
        <p:xfrm>
          <a:off x="657860" y="4876800"/>
          <a:ext cx="10426700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2413000"/>
                <a:gridCol w="2298700"/>
              </a:tblGrid>
              <a:tr h="4064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预计启动</a:t>
                      </a:r>
                      <a:endParaRPr lang="zh-CN" altLang="en-US" sz="1020" b="1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预计完成</a:t>
                      </a:r>
                      <a:endParaRPr lang="zh-CN" altLang="en-US" sz="1020" b="1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开发周期（周）</a:t>
                      </a:r>
                      <a:endParaRPr lang="zh-CN" altLang="en-US" sz="1020" b="1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开发周期（工作日）</a:t>
                      </a:r>
                      <a:endParaRPr lang="zh-CN" altLang="en-US" sz="1020" b="1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排期备注</a:t>
                      </a:r>
                      <a:endParaRPr lang="zh-CN" altLang="en-US" sz="1020" b="1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0F7FB"/>
                    </a:solidFill>
                  </a:tcPr>
                </a:tc>
              </a:tr>
              <a:tr h="4699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YYYY/MM/DD</a:t>
                      </a:r>
                      <a:endParaRPr lang="en-US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YYYY/MM/DD</a:t>
                      </a:r>
                      <a:endParaRPr lang="en-US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完整开发</a:t>
                      </a:r>
                      <a:endParaRPr lang="zh-CN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YYYY/MM/DD</a:t>
                      </a:r>
                      <a:endParaRPr lang="en-US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YYYY/MM/DD</a:t>
                      </a:r>
                      <a:endParaRPr lang="en-US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000" b="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en-US" sz="1000" b="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压缩范围或分阶段说明</a:t>
                      </a:r>
                      <a:endParaRPr lang="zh-CN" altLang="en-US" sz="1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38100" marB="3810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00" b="0">
                <a:solidFill>
                  <a:srgbClr val="5A6B74"/>
                </a:solidFill>
                <a:cs typeface="微软雅黑" panose="020B0503020204020204" charset="-122"/>
              </a:rPr>
              <a:t>09</a:t>
            </a:r>
            <a:endParaRPr lang="en-US" sz="1000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>
                <a:solidFill>
                  <a:srgbClr val="00689E"/>
                </a:solidFill>
                <a:cs typeface="微软雅黑" panose="020B0503020204020204" charset="-122"/>
              </a:rPr>
              <a:t>附件页</a:t>
            </a:r>
            <a:endParaRPr lang="zh-CN">
              <a:solidFill>
                <a:srgbClr val="00689E"/>
              </a:solidFill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>
                <a:solidFill>
                  <a:srgbClr val="14242E"/>
                </a:solidFill>
                <a:cs typeface="微软雅黑" panose="020B0503020204020204" charset="-122"/>
              </a:rPr>
              <a:t>附件页</a:t>
            </a:r>
            <a:endParaRPr lang="zh-CN">
              <a:solidFill>
                <a:srgbClr val="14242E"/>
              </a:solidFill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130">
                <a:solidFill>
                  <a:srgbClr val="5A6B74"/>
                </a:solidFill>
              </a:rPr>
              <a:t>用于列出随本</a:t>
            </a:r>
            <a:r>
              <a:rPr lang="en-US" altLang="zh-CN" sz="1130">
                <a:solidFill>
                  <a:srgbClr val="5A6B74"/>
                </a:solidFill>
              </a:rPr>
              <a:t> PPT </a:t>
            </a:r>
            <a:r>
              <a:rPr lang="zh-CN" altLang="en-US" sz="1130">
                <a:solidFill>
                  <a:srgbClr val="5A6B74"/>
                </a:solidFill>
              </a:rPr>
              <a:t>一起交付的需求文档、原型</a:t>
            </a:r>
            <a:r>
              <a:rPr lang="en-US" altLang="zh-CN" sz="1130">
                <a:solidFill>
                  <a:srgbClr val="5A6B74"/>
                </a:solidFill>
              </a:rPr>
              <a:t> HTML</a:t>
            </a:r>
            <a:r>
              <a:rPr lang="zh-CN" altLang="en-US" sz="1130">
                <a:solidFill>
                  <a:srgbClr val="5A6B74"/>
                </a:solidFill>
              </a:rPr>
              <a:t>、截图、工时表和其他资料。</a:t>
            </a:r>
            <a:endParaRPr lang="zh-CN" altLang="en-US" sz="1130">
              <a:solidFill>
                <a:srgbClr val="5A6B74"/>
              </a:solidFill>
            </a:endParaRPr>
          </a:p>
        </p:txBody>
      </p:sp>
      <p:graphicFrame>
        <p:nvGraphicFramePr>
          <p:cNvPr id="2" name="附件清单表格"/>
          <p:cNvGraphicFramePr/>
          <p:nvPr/>
        </p:nvGraphicFramePr>
        <p:xfrm>
          <a:off x="736600" y="1968500"/>
          <a:ext cx="10668000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/>
                <a:gridCol w="4064000"/>
                <a:gridCol w="476250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类型</a:t>
                      </a:r>
                      <a:endParaRPr lang="zh-CN" altLang="en-US" sz="120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文件</a:t>
                      </a:r>
                      <a:r>
                        <a:rPr lang="en-US" altLang="zh-CN" sz="120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20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路径</a:t>
                      </a:r>
                      <a:endParaRPr lang="zh-CN" altLang="en-US" sz="120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用途</a:t>
                      </a:r>
                      <a:endParaRPr lang="zh-CN" altLang="en-US" sz="120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00689E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PRD / </a:t>
                      </a: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需求说明</a:t>
                      </a:r>
                      <a:endParaRPr lang="zh-CN" altLang="en-US" sz="100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需求文档或</a:t>
                      </a:r>
                      <a:r>
                        <a:rPr lang="en-US" altLang="zh-CN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PRD </a:t>
                      </a: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文件</a:t>
                      </a:r>
                      <a:endParaRPr lang="zh-CN" altLang="en-US" sz="100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说明功能范围、业务规则和验收口径</a:t>
                      </a:r>
                      <a:endParaRPr lang="zh-CN" altLang="en-US" sz="100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HTML </a:t>
                      </a: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原型入口</a:t>
                      </a:r>
                      <a:endParaRPr lang="zh-CN" altLang="en-US" sz="100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index.html / prototype.html</a:t>
                      </a:r>
                      <a:endParaRPr lang="en-US" altLang="en-US" sz="100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打开交互原型或页面演示</a:t>
                      </a:r>
                      <a:endParaRPr lang="zh-CN" altLang="en-US" sz="100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补充资料</a:t>
                      </a:r>
                      <a:endParaRPr lang="zh-CN" altLang="en-US" sz="100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截图、</a:t>
                      </a:r>
                      <a:r>
                        <a:rPr lang="en-US" altLang="zh-CN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PDF</a:t>
                      </a: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Excel</a:t>
                      </a: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、压缩包等</a:t>
                      </a:r>
                      <a:endParaRPr lang="zh-CN" altLang="en-US" sz="100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支撑评审、开发、测试或交付确认</a:t>
                      </a:r>
                      <a:endParaRPr lang="zh-CN" altLang="en-US" sz="100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交付说明</a:t>
                      </a:r>
                      <a:endParaRPr lang="zh-CN" altLang="en-US" sz="100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随本</a:t>
                      </a:r>
                      <a:r>
                        <a:rPr lang="en-US" altLang="zh-CN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PPT </a:t>
                      </a: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同目录交付</a:t>
                      </a:r>
                      <a:endParaRPr lang="zh-CN" altLang="en-US" sz="100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1B2B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正式出稿时替换为本次实际文件</a:t>
                      </a:r>
                      <a:endParaRPr lang="zh-CN" altLang="en-US" sz="1000">
                        <a:solidFill>
                          <a:srgbClr val="1B2B3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>
                    <a:lnL w="9525" cmpd="sng">
                      <a:solidFill>
                        <a:srgbClr val="D8E4EA"/>
                      </a:solidFill>
                    </a:lnL>
                    <a:lnR w="9525" cmpd="sng">
                      <a:solidFill>
                        <a:srgbClr val="D8E4EA"/>
                      </a:solidFill>
                    </a:lnR>
                    <a:lnT w="9525" cmpd="sng">
                      <a:solidFill>
                        <a:srgbClr val="D8E4EA"/>
                      </a:solidFill>
                    </a:lnT>
                    <a:lnB w="9525" cmpd="sng">
                      <a:solidFill>
                        <a:srgbClr val="D8E4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附件页说明"/>
          <p:cNvSpPr txBox="1"/>
          <p:nvPr/>
        </p:nvSpPr>
        <p:spPr>
          <a:xfrm>
            <a:off x="736600" y="5461000"/>
            <a:ext cx="10668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10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</a:rPr>
              <a:t>正式出稿时替换为本次实际交付文件；路径优先使用相对路径、同目录说明或交付包内路径。</a:t>
            </a:r>
            <a:endParaRPr lang="zh-CN" altLang="en-US" sz="110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1778</Words>
  <Application>WPS 演示</Application>
  <PresentationFormat>Converted Presentation</PresentationFormat>
  <Paragraphs>458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肖金鹏</cp:lastModifiedBy>
  <cp:revision>8</cp:revision>
  <dcterms:created xsi:type="dcterms:W3CDTF">2026-05-28T04:00:00Z</dcterms:created>
  <dcterms:modified xsi:type="dcterms:W3CDTF">2026-05-28T06:08:31Z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05DD8098B4414174AD2C4594A9028A8C_12</vt:lpwstr>
  </property>
  <property fmtid="{D5CDD505-2E9C-101B-9397-08002B2CF9AE}" pid="3" name="KSOProductBuildVer">
    <vt:lpwstr>2052-12.1.0.26373</vt:lpwstr>
  </property>
</Properties>
</file>